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E1AB5DD-EA5B-F07D-E99C-4D67A4C8E5E1}">
          <p14:sldIdLst>
            <p14:sldId id="256"/>
            <p14:sldId id="257"/>
            <p14:sldId id="258"/>
            <p14:sldId id="259"/>
          </p14:sldIdLst>
        </p14:section>
        <p14:section name="Implementation" id="{3E878D92-D60F-1E32-8553-E7074E531ED4}">
          <p14:sldIdLst>
            <p14:sldId id="260"/>
            <p14:sldId id="261"/>
            <p14:sldId id="262"/>
            <p14:sldId id="263"/>
          </p14:sldIdLst>
        </p14:section>
        <p14:section name="Wrap-up" id="{ABB240A4-D245-B77F-63D7-938743D97B2F}">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7" d="100"/>
          <a:sy n="87" d="100"/>
        </p:scale>
        <p:origin x="60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2984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project is a Card Matching Game, written completely in 8086 assembly language and run on the EMU8086 emulator. In the next few minutes I will explain the game, how it works, and the concepts from COAL that I used.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game is simple: sixteen face-down cards, eight hidden pairs. The player flips two cards and tries to find all pairs. I chose assembly to practise low-level programming. My objectives were to build a complete working game, apply 8086 concepts, and handle keyboard input and screen output.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board is four by four with eight pairs. The player has twelve attempts; one attempt means flipping two cards. Controls: arrow keys move the cursor, Enter selects a card, R restarts and Escape exits. Find all eight pairs to win; use up twelve attempts and the game is over.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screenshots from the running game in EMU8086. On the left is the start screen with all sixteen cards face down and the cursor on the first card. On the right is a game in progress: four attempts used and three pairs already found, and the matched cards stay open.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wrote the program in 8086 assembly and ran it in EMU8086. For output I used DOS interrupt 21h to print characters and strings. BIOS interrupt 10h sets the cursor position and interrupt 16h reads the keyboard, including arrow keys. The program is a .COM file starting at org 100h.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has two parts. First, the data: the board holds sixteen card values, a matched array stores which cards are already paired, and there are variables for the cursor, the two selected cards, and the attempts and pairs counters. Second, the procedures: initGame resets everything, drawScreen draws once, updateCursor moves the marker, selectCard handles Enter, and checkMatch compares the two cards. Finally, win and lose screens.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COAL concepts in the project. Arrays: the board is a one-dimensional array and I find a card with row times four plus column. MUL and DIV do this arithmetic. Interrupts handle all input and output. Procedures keep the code organised. Compare and jump instructions control the game logic. And I redraw only the cards that change, which stops the screen from flickering.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flow of the game. The program initialises and draws the screen once, then waits for a key. Arrow keys only move the cursor. When the player presses Enter twice, two cards are flipped and the attempt counter increases. The program compares them: a match stays open and the pair count goes up, otherwise the cards flip back. Then it checks for a win with eight pairs or game over at twelve attempts, and otherwise returns to waiting for a key.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challenges were avoiding screen flicker, keeping track of the cursor position, and giving the player a moment to see both cards. In conclusion, I built a fully playable memory game entirely in 8086 assembly and practised arrays, interrupts, and procedures. In future it could include a random shuffle and a timer.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0F172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97280"/>
            <a:ext cx="4846320" cy="164592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548640" y="2926080"/>
            <a:ext cx="4846320" cy="731520"/>
          </a:xfrm>
          <a:prstGeom prst="rect">
            <a:avLst/>
          </a:prstGeom>
          <a:noFill/>
          <a:ln/>
        </p:spPr>
        <p:txBody>
          <a:bodyPr wrap="square" rtlCol="0"/>
          <a:lstStyle>
            <a:lvl1pPr marL="0" indent="0" algn="l">
              <a:buNone/>
              <a:defRPr lang="en-US" sz="1800" dirty="0">
                <a:solidFill>
                  <a:schemeClr val="accent1"/>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F172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97280"/>
            <a:ext cx="4846320" cy="1645920"/>
          </a:xfrm>
          <a:prstGeom prst="rect">
            <a:avLst/>
          </a:prstGeom>
          <a:noFill/>
          <a:ln/>
        </p:spPr>
        <p:txBody>
          <a:bodyPr wrap="square" lIns="0" tIns="0" rIns="0" bIns="0" rtlCol="0" anchor="b"/>
          <a:lstStyle/>
          <a:p>
            <a:pPr marL="0" indent="0" algn="l">
              <a:buNone/>
            </a:pPr>
            <a:r>
              <a:rPr lang="en-US" sz="4400" b="1" dirty="0">
                <a:solidFill>
                  <a:schemeClr val="bg1"/>
                </a:solidFill>
              </a:rPr>
              <a:t>Card Matching Game</a:t>
            </a:r>
            <a:endParaRPr lang="en-US" sz="4400" dirty="0"/>
          </a:p>
        </p:txBody>
      </p:sp>
      <p:sp>
        <p:nvSpPr>
          <p:cNvPr id="3" name="Text 0"/>
          <p:cNvSpPr>
            <a:spLocks noGrp="1"/>
          </p:cNvSpPr>
          <p:nvPr>
            <p:ph type="body" idx="101" hasCustomPrompt="1"/>
          </p:nvPr>
        </p:nvSpPr>
        <p:spPr>
          <a:xfrm>
            <a:off x="548640" y="2926080"/>
            <a:ext cx="4846320" cy="731520"/>
          </a:xfrm>
          <a:prstGeom prst="rect">
            <a:avLst/>
          </a:prstGeom>
          <a:noFill/>
          <a:ln/>
        </p:spPr>
        <p:txBody>
          <a:bodyPr wrap="square" lIns="0" tIns="0" rIns="0" bIns="0" rtlCol="0" anchor="t"/>
          <a:lstStyle/>
          <a:p>
            <a:pPr marL="0" indent="0" algn="l">
              <a:buNone/>
            </a:pPr>
            <a:r>
              <a:rPr lang="en-US" sz="1800" dirty="0">
                <a:solidFill>
                  <a:schemeClr val="accent1"/>
                </a:solidFill>
              </a:rPr>
              <a:t>A 4×4 memory game in 8086 Assembly</a:t>
            </a:r>
            <a:endParaRPr lang="en-US" sz="1800" dirty="0"/>
          </a:p>
        </p:txBody>
      </p:sp>
      <p:sp>
        <p:nvSpPr>
          <p:cNvPr id="4" name="Text 2"/>
          <p:cNvSpPr txBox="1"/>
          <p:nvPr/>
        </p:nvSpPr>
        <p:spPr>
          <a:xfrm>
            <a:off x="548640" y="3657600"/>
            <a:ext cx="4846320" cy="914400"/>
          </a:xfrm>
          <a:prstGeom prst="rect">
            <a:avLst/>
          </a:prstGeom>
          <a:noFill/>
          <a:ln/>
        </p:spPr>
        <p:txBody>
          <a:bodyPr wrap="square" lIns="0" tIns="0" rIns="0" bIns="0" rtlCol="0" anchor="t"/>
          <a:lstStyle/>
          <a:p>
            <a:pPr marL="0" indent="0">
              <a:buNone/>
            </a:pPr>
            <a:r>
              <a:rPr lang="en-US" sz="1400" dirty="0">
                <a:solidFill>
                  <a:schemeClr val="bg2"/>
                </a:solidFill>
              </a:rPr>
              <a:t>COAL Project</a:t>
            </a:r>
            <a:endParaRPr lang="en-US" sz="1400" dirty="0"/>
          </a:p>
          <a:p>
            <a:pPr marL="0" indent="0">
              <a:buNone/>
            </a:pPr>
            <a:r>
              <a:rPr lang="en-US" sz="1400" b="1" dirty="0">
                <a:solidFill>
                  <a:schemeClr val="accent2"/>
                </a:solidFill>
              </a:rPr>
              <a:t>Presented by Anjlee Kumari</a:t>
            </a:r>
            <a:endParaRPr lang="en-US" sz="1400" dirty="0">
              <a:solidFill>
                <a:schemeClr val="accent2"/>
              </a:solidFill>
            </a:endParaRPr>
          </a:p>
          <a:p>
            <a:pPr marL="0" indent="0">
              <a:buNone/>
            </a:pPr>
            <a:r>
              <a:rPr lang="en-US" sz="1400" dirty="0">
                <a:solidFill>
                  <a:schemeClr val="bg2"/>
                </a:solidFill>
              </a:rPr>
              <a:t>Roll No: 25-BSCS-06</a:t>
            </a:r>
            <a:endParaRPr lang="en-US" sz="1400" dirty="0"/>
          </a:p>
        </p:txBody>
      </p:sp>
      <p:sp>
        <p:nvSpPr>
          <p:cNvPr id="5" name="Tile 1"/>
          <p:cNvSpPr txBox="1"/>
          <p:nvPr/>
        </p:nvSpPr>
        <p:spPr>
          <a:xfrm>
            <a:off x="5852160" y="1188720"/>
            <a:ext cx="1280160" cy="1280160"/>
          </a:xfrm>
          <a:prstGeom prst="roundRect">
            <a:avLst>
              <a:gd name="adj" fmla="val 10714"/>
            </a:avLst>
          </a:prstGeom>
          <a:solidFill>
            <a:schemeClr val="tx2"/>
          </a:solidFill>
          <a:ln/>
        </p:spPr>
        <p:txBody>
          <a:bodyPr wrap="square" rtlCol="0" anchor="ctr"/>
          <a:lstStyle/>
          <a:p>
            <a:pPr marL="0" indent="0" algn="ctr">
              <a:buNone/>
            </a:pPr>
            <a:r>
              <a:rPr lang="en-US" sz="4800" b="1" dirty="0">
                <a:solidFill>
                  <a:schemeClr val="accent2"/>
                </a:solidFill>
                <a:latin typeface="Courier New" pitchFamily="34" charset="0"/>
                <a:ea typeface="Courier New" pitchFamily="34" charset="-122"/>
                <a:cs typeface="Courier New" pitchFamily="34" charset="-120"/>
              </a:rPr>
              <a:t>?</a:t>
            </a:r>
            <a:endParaRPr lang="en-US" sz="4800" dirty="0"/>
          </a:p>
        </p:txBody>
      </p:sp>
      <p:sp>
        <p:nvSpPr>
          <p:cNvPr id="6" name="Tile 2"/>
          <p:cNvSpPr txBox="1"/>
          <p:nvPr/>
        </p:nvSpPr>
        <p:spPr>
          <a:xfrm>
            <a:off x="7315200" y="1188720"/>
            <a:ext cx="1280160" cy="1280160"/>
          </a:xfrm>
          <a:prstGeom prst="roundRect">
            <a:avLst>
              <a:gd name="adj" fmla="val 10714"/>
            </a:avLst>
          </a:prstGeom>
          <a:solidFill>
            <a:schemeClr val="accent1"/>
          </a:solidFill>
          <a:ln/>
        </p:spPr>
        <p:txBody>
          <a:bodyPr wrap="square" rtlCol="0" anchor="ctr"/>
          <a:lstStyle/>
          <a:p>
            <a:pPr marL="0" indent="0" algn="ctr">
              <a:buNone/>
            </a:pPr>
            <a:r>
              <a:rPr lang="en-US" sz="4800" b="1" dirty="0">
                <a:solidFill>
                  <a:schemeClr val="tx1"/>
                </a:solidFill>
                <a:latin typeface="Courier New" pitchFamily="34" charset="0"/>
                <a:ea typeface="Courier New" pitchFamily="34" charset="-122"/>
                <a:cs typeface="Courier New" pitchFamily="34" charset="-120"/>
              </a:rPr>
              <a:t>7</a:t>
            </a:r>
            <a:endParaRPr lang="en-US" sz="4800" dirty="0"/>
          </a:p>
        </p:txBody>
      </p:sp>
      <p:sp>
        <p:nvSpPr>
          <p:cNvPr id="7" name="Tile 3"/>
          <p:cNvSpPr txBox="1"/>
          <p:nvPr/>
        </p:nvSpPr>
        <p:spPr>
          <a:xfrm>
            <a:off x="5852160" y="2651760"/>
            <a:ext cx="1280160" cy="1280160"/>
          </a:xfrm>
          <a:prstGeom prst="roundRect">
            <a:avLst>
              <a:gd name="adj" fmla="val 10714"/>
            </a:avLst>
          </a:prstGeom>
          <a:solidFill>
            <a:schemeClr val="accent1"/>
          </a:solidFill>
          <a:ln/>
        </p:spPr>
        <p:txBody>
          <a:bodyPr wrap="square" rtlCol="0" anchor="ctr"/>
          <a:lstStyle/>
          <a:p>
            <a:pPr marL="0" indent="0" algn="ctr">
              <a:buNone/>
            </a:pPr>
            <a:r>
              <a:rPr lang="en-US" sz="4800" b="1" dirty="0">
                <a:solidFill>
                  <a:schemeClr val="tx1"/>
                </a:solidFill>
                <a:latin typeface="Courier New" pitchFamily="34" charset="0"/>
                <a:ea typeface="Courier New" pitchFamily="34" charset="-122"/>
                <a:cs typeface="Courier New" pitchFamily="34" charset="-120"/>
              </a:rPr>
              <a:t>7</a:t>
            </a:r>
            <a:endParaRPr lang="en-US" sz="4800" dirty="0"/>
          </a:p>
        </p:txBody>
      </p:sp>
      <p:sp>
        <p:nvSpPr>
          <p:cNvPr id="8" name="Tile 4"/>
          <p:cNvSpPr txBox="1"/>
          <p:nvPr/>
        </p:nvSpPr>
        <p:spPr>
          <a:xfrm>
            <a:off x="7315200" y="2651760"/>
            <a:ext cx="1280160" cy="1280160"/>
          </a:xfrm>
          <a:prstGeom prst="roundRect">
            <a:avLst>
              <a:gd name="adj" fmla="val 10714"/>
            </a:avLst>
          </a:prstGeom>
          <a:solidFill>
            <a:schemeClr val="tx2"/>
          </a:solidFill>
          <a:ln/>
        </p:spPr>
        <p:txBody>
          <a:bodyPr wrap="square" rtlCol="0" anchor="ctr"/>
          <a:lstStyle/>
          <a:p>
            <a:pPr marL="0" indent="0" algn="ctr">
              <a:buNone/>
            </a:pPr>
            <a:r>
              <a:rPr lang="en-US" sz="4800" b="1" dirty="0">
                <a:solidFill>
                  <a:schemeClr val="accent2"/>
                </a:solidFill>
                <a:latin typeface="Courier New" pitchFamily="34" charset="0"/>
                <a:ea typeface="Courier New" pitchFamily="34" charset="-122"/>
                <a:cs typeface="Courier New" pitchFamily="34" charset="-120"/>
              </a:rPr>
              <a:t>?</a:t>
            </a:r>
            <a:endParaRPr lang="en-US"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Introduction &amp; Objective</a:t>
            </a:r>
            <a:endParaRPr lang="en-US" sz="3600" dirty="0"/>
          </a:p>
        </p:txBody>
      </p:sp>
      <p:sp>
        <p:nvSpPr>
          <p:cNvPr id="3" name="What card"/>
          <p:cNvSpPr/>
          <p:nvPr/>
        </p:nvSpPr>
        <p:spPr>
          <a:xfrm>
            <a:off x="457200" y="1280160"/>
            <a:ext cx="4023360" cy="1463040"/>
          </a:xfrm>
          <a:prstGeom prst="roundRect">
            <a:avLst>
              <a:gd name="adj" fmla="val 7500"/>
            </a:avLst>
          </a:prstGeom>
          <a:solidFill>
            <a:schemeClr val="tx2"/>
          </a:solidFill>
          <a:ln/>
        </p:spPr>
      </p:sp>
      <p:sp>
        <p:nvSpPr>
          <p:cNvPr id="4" name="Text 2"/>
          <p:cNvSpPr txBox="1"/>
          <p:nvPr/>
        </p:nvSpPr>
        <p:spPr>
          <a:xfrm>
            <a:off x="685800" y="1417320"/>
            <a:ext cx="3566160" cy="320040"/>
          </a:xfrm>
          <a:prstGeom prst="rect">
            <a:avLst/>
          </a:prstGeom>
          <a:noFill/>
          <a:ln/>
        </p:spPr>
        <p:txBody>
          <a:bodyPr wrap="square" lIns="0" tIns="0" rIns="0" bIns="0" rtlCol="0" anchor="t"/>
          <a:lstStyle/>
          <a:p>
            <a:pPr marL="0" indent="0">
              <a:buNone/>
            </a:pPr>
            <a:r>
              <a:rPr lang="en-US" sz="1800" b="1" dirty="0">
                <a:solidFill>
                  <a:schemeClr val="accent1"/>
                </a:solidFill>
              </a:rPr>
              <a:t>What is it?</a:t>
            </a:r>
            <a:endParaRPr lang="en-US" sz="1800" dirty="0"/>
          </a:p>
        </p:txBody>
      </p:sp>
      <p:sp>
        <p:nvSpPr>
          <p:cNvPr id="5" name="Text 3"/>
          <p:cNvSpPr txBox="1"/>
          <p:nvPr/>
        </p:nvSpPr>
        <p:spPr>
          <a:xfrm>
            <a:off x="685800" y="1783080"/>
            <a:ext cx="3566160" cy="868680"/>
          </a:xfrm>
          <a:prstGeom prst="rect">
            <a:avLst/>
          </a:prstGeom>
          <a:noFill/>
          <a:ln/>
        </p:spPr>
        <p:txBody>
          <a:bodyPr wrap="square" lIns="0" tIns="0" rIns="0" bIns="0" rtlCol="0" anchor="t"/>
          <a:lstStyle/>
          <a:p>
            <a:pPr marL="0" indent="0">
              <a:buNone/>
            </a:pPr>
            <a:r>
              <a:rPr lang="en-US" sz="1400" dirty="0">
                <a:solidFill>
                  <a:schemeClr val="bg1"/>
                </a:solidFill>
              </a:rPr>
              <a:t>A memory game on a 4×4 grid. Flip two cards at a time and find all matching pairs before attempts run out.</a:t>
            </a:r>
            <a:endParaRPr lang="en-US" sz="1400" dirty="0"/>
          </a:p>
        </p:txBody>
      </p:sp>
      <p:sp>
        <p:nvSpPr>
          <p:cNvPr id="6" name="Why card"/>
          <p:cNvSpPr/>
          <p:nvPr/>
        </p:nvSpPr>
        <p:spPr>
          <a:xfrm>
            <a:off x="457200" y="2971800"/>
            <a:ext cx="4023360" cy="1463040"/>
          </a:xfrm>
          <a:prstGeom prst="roundRect">
            <a:avLst>
              <a:gd name="adj" fmla="val 7500"/>
            </a:avLst>
          </a:prstGeom>
          <a:solidFill>
            <a:schemeClr val="tx2"/>
          </a:solidFill>
          <a:ln/>
        </p:spPr>
      </p:sp>
      <p:sp>
        <p:nvSpPr>
          <p:cNvPr id="7" name="Text 5"/>
          <p:cNvSpPr txBox="1"/>
          <p:nvPr/>
        </p:nvSpPr>
        <p:spPr>
          <a:xfrm>
            <a:off x="685800" y="3108960"/>
            <a:ext cx="3566160" cy="320040"/>
          </a:xfrm>
          <a:prstGeom prst="rect">
            <a:avLst/>
          </a:prstGeom>
          <a:noFill/>
          <a:ln/>
        </p:spPr>
        <p:txBody>
          <a:bodyPr wrap="square" lIns="0" tIns="0" rIns="0" bIns="0" rtlCol="0" anchor="t"/>
          <a:lstStyle/>
          <a:p>
            <a:pPr marL="0" indent="0">
              <a:buNone/>
            </a:pPr>
            <a:r>
              <a:rPr lang="en-US" sz="1800" b="1" dirty="0">
                <a:solidFill>
                  <a:schemeClr val="accent2"/>
                </a:solidFill>
              </a:rPr>
              <a:t>Why assembly?</a:t>
            </a:r>
            <a:endParaRPr lang="en-US" sz="1800" dirty="0"/>
          </a:p>
        </p:txBody>
      </p:sp>
      <p:sp>
        <p:nvSpPr>
          <p:cNvPr id="8" name="Text 6"/>
          <p:cNvSpPr txBox="1"/>
          <p:nvPr/>
        </p:nvSpPr>
        <p:spPr>
          <a:xfrm>
            <a:off x="685800" y="3474720"/>
            <a:ext cx="3566160" cy="868680"/>
          </a:xfrm>
          <a:prstGeom prst="rect">
            <a:avLst/>
          </a:prstGeom>
          <a:noFill/>
          <a:ln/>
        </p:spPr>
        <p:txBody>
          <a:bodyPr wrap="square" lIns="0" tIns="0" rIns="0" bIns="0" rtlCol="0" anchor="t"/>
          <a:lstStyle/>
          <a:p>
            <a:pPr marL="0" indent="0">
              <a:buNone/>
            </a:pPr>
            <a:r>
              <a:rPr lang="en-US" sz="1400" dirty="0">
                <a:solidFill>
                  <a:schemeClr val="bg1"/>
                </a:solidFill>
              </a:rPr>
              <a:t>It gives hands-on practice with registers, memory, and direct control of screen and keyboard.</a:t>
            </a:r>
            <a:endParaRPr lang="en-US" sz="1400" dirty="0"/>
          </a:p>
        </p:txBody>
      </p:sp>
      <p:sp>
        <p:nvSpPr>
          <p:cNvPr id="9" name="Text 7"/>
          <p:cNvSpPr txBox="1"/>
          <p:nvPr/>
        </p:nvSpPr>
        <p:spPr>
          <a:xfrm>
            <a:off x="4846320" y="1280160"/>
            <a:ext cx="3840480" cy="365760"/>
          </a:xfrm>
          <a:prstGeom prst="rect">
            <a:avLst/>
          </a:prstGeom>
          <a:noFill/>
          <a:ln/>
        </p:spPr>
        <p:txBody>
          <a:bodyPr wrap="square" lIns="0" tIns="0" rIns="0" bIns="0" rtlCol="0" anchor="t"/>
          <a:lstStyle/>
          <a:p>
            <a:pPr marL="0" indent="0">
              <a:buNone/>
            </a:pPr>
            <a:r>
              <a:rPr lang="en-US" sz="2000" b="1" dirty="0">
                <a:solidFill>
                  <a:schemeClr val="bg1"/>
                </a:solidFill>
              </a:rPr>
              <a:t>Objectives</a:t>
            </a:r>
            <a:endParaRPr lang="en-US" sz="2000" dirty="0"/>
          </a:p>
        </p:txBody>
      </p:sp>
      <p:sp>
        <p:nvSpPr>
          <p:cNvPr id="10" name="Objective icon 1 circle"/>
          <p:cNvSpPr/>
          <p:nvPr/>
        </p:nvSpPr>
        <p:spPr>
          <a:xfrm>
            <a:off x="4846320" y="1828800"/>
            <a:ext cx="640080" cy="640080"/>
          </a:xfrm>
          <a:prstGeom prst="ellipse">
            <a:avLst/>
          </a:prstGeom>
          <a:solidFill>
            <a:schemeClr val="accent1"/>
          </a:solidFill>
          <a:ln/>
        </p:spPr>
      </p:sp>
      <p:pic>
        <p:nvPicPr>
          <p:cNvPr id="11" name="Objective icon 1" descr="Objective icon 1"/>
          <p:cNvPicPr>
            <a:picLocks noChangeAspect="1"/>
          </p:cNvPicPr>
          <p:nvPr/>
        </p:nvPicPr>
        <p:blipFill>
          <a:blip r:embed="rId3"/>
          <a:stretch>
            <a:fillRect/>
          </a:stretch>
        </p:blipFill>
        <p:spPr>
          <a:xfrm>
            <a:off x="5006340" y="1988820"/>
            <a:ext cx="320040" cy="320040"/>
          </a:xfrm>
          <a:prstGeom prst="rect">
            <a:avLst/>
          </a:prstGeom>
        </p:spPr>
      </p:pic>
      <p:sp>
        <p:nvSpPr>
          <p:cNvPr id="12" name="Text 9"/>
          <p:cNvSpPr txBox="1"/>
          <p:nvPr/>
        </p:nvSpPr>
        <p:spPr>
          <a:xfrm>
            <a:off x="5669280" y="1828800"/>
            <a:ext cx="3017520" cy="640080"/>
          </a:xfrm>
          <a:prstGeom prst="rect">
            <a:avLst/>
          </a:prstGeom>
          <a:noFill/>
          <a:ln/>
        </p:spPr>
        <p:txBody>
          <a:bodyPr wrap="square" lIns="0" tIns="0" rIns="0" bIns="0" rtlCol="0" anchor="ctr"/>
          <a:lstStyle/>
          <a:p>
            <a:pPr marL="0" indent="0">
              <a:buNone/>
            </a:pPr>
            <a:r>
              <a:rPr lang="en-US" sz="1600" dirty="0">
                <a:solidFill>
                  <a:schemeClr val="bg1"/>
                </a:solidFill>
              </a:rPr>
              <a:t>Build a complete, playable game</a:t>
            </a:r>
            <a:endParaRPr lang="en-US" sz="1600" dirty="0"/>
          </a:p>
        </p:txBody>
      </p:sp>
      <p:sp>
        <p:nvSpPr>
          <p:cNvPr id="13" name="Objective icon 2 circle"/>
          <p:cNvSpPr/>
          <p:nvPr/>
        </p:nvSpPr>
        <p:spPr>
          <a:xfrm>
            <a:off x="4846320" y="2743200"/>
            <a:ext cx="640080" cy="640080"/>
          </a:xfrm>
          <a:prstGeom prst="ellipse">
            <a:avLst/>
          </a:prstGeom>
          <a:solidFill>
            <a:schemeClr val="accent2"/>
          </a:solidFill>
          <a:ln/>
        </p:spPr>
      </p:sp>
      <p:pic>
        <p:nvPicPr>
          <p:cNvPr id="14" name="Objective icon 2" descr="Objective icon 2"/>
          <p:cNvPicPr>
            <a:picLocks noChangeAspect="1"/>
          </p:cNvPicPr>
          <p:nvPr/>
        </p:nvPicPr>
        <p:blipFill>
          <a:blip r:embed="rId4"/>
          <a:stretch>
            <a:fillRect/>
          </a:stretch>
        </p:blipFill>
        <p:spPr>
          <a:xfrm>
            <a:off x="5006340" y="2903220"/>
            <a:ext cx="320040" cy="320040"/>
          </a:xfrm>
          <a:prstGeom prst="rect">
            <a:avLst/>
          </a:prstGeom>
        </p:spPr>
      </p:pic>
      <p:sp>
        <p:nvSpPr>
          <p:cNvPr id="15" name="Text 11"/>
          <p:cNvSpPr txBox="1"/>
          <p:nvPr/>
        </p:nvSpPr>
        <p:spPr>
          <a:xfrm>
            <a:off x="5669280" y="2743200"/>
            <a:ext cx="3017520" cy="640080"/>
          </a:xfrm>
          <a:prstGeom prst="rect">
            <a:avLst/>
          </a:prstGeom>
          <a:noFill/>
          <a:ln/>
        </p:spPr>
        <p:txBody>
          <a:bodyPr wrap="square" lIns="0" tIns="0" rIns="0" bIns="0" rtlCol="0" anchor="ctr"/>
          <a:lstStyle/>
          <a:p>
            <a:pPr marL="0" indent="0">
              <a:buNone/>
            </a:pPr>
            <a:r>
              <a:rPr lang="en-US" sz="1600" dirty="0">
                <a:solidFill>
                  <a:schemeClr val="bg1"/>
                </a:solidFill>
              </a:rPr>
              <a:t>Apply 8086 concepts in a real program</a:t>
            </a:r>
            <a:endParaRPr lang="en-US" sz="1600" dirty="0"/>
          </a:p>
        </p:txBody>
      </p:sp>
      <p:sp>
        <p:nvSpPr>
          <p:cNvPr id="16" name="Objective icon 3 circle"/>
          <p:cNvSpPr/>
          <p:nvPr/>
        </p:nvSpPr>
        <p:spPr>
          <a:xfrm>
            <a:off x="4846320" y="3657600"/>
            <a:ext cx="640080" cy="640080"/>
          </a:xfrm>
          <a:prstGeom prst="ellipse">
            <a:avLst/>
          </a:prstGeom>
          <a:solidFill>
            <a:schemeClr val="accent3"/>
          </a:solidFill>
          <a:ln/>
        </p:spPr>
      </p:sp>
      <p:pic>
        <p:nvPicPr>
          <p:cNvPr id="17" name="Objective icon 3" descr="Objective icon 3"/>
          <p:cNvPicPr>
            <a:picLocks noChangeAspect="1"/>
          </p:cNvPicPr>
          <p:nvPr/>
        </p:nvPicPr>
        <p:blipFill>
          <a:blip r:embed="rId5"/>
          <a:stretch>
            <a:fillRect/>
          </a:stretch>
        </p:blipFill>
        <p:spPr>
          <a:xfrm>
            <a:off x="5006340" y="3817620"/>
            <a:ext cx="320040" cy="320040"/>
          </a:xfrm>
          <a:prstGeom prst="rect">
            <a:avLst/>
          </a:prstGeom>
        </p:spPr>
      </p:pic>
      <p:sp>
        <p:nvSpPr>
          <p:cNvPr id="18" name="Text 13"/>
          <p:cNvSpPr txBox="1"/>
          <p:nvPr/>
        </p:nvSpPr>
        <p:spPr>
          <a:xfrm>
            <a:off x="5669280" y="3657600"/>
            <a:ext cx="3017520" cy="640080"/>
          </a:xfrm>
          <a:prstGeom prst="rect">
            <a:avLst/>
          </a:prstGeom>
          <a:noFill/>
          <a:ln/>
        </p:spPr>
        <p:txBody>
          <a:bodyPr wrap="square" lIns="0" tIns="0" rIns="0" bIns="0" rtlCol="0" anchor="ctr"/>
          <a:lstStyle/>
          <a:p>
            <a:pPr marL="0" indent="0">
              <a:buNone/>
            </a:pPr>
            <a:r>
              <a:rPr lang="en-US" sz="1600" dirty="0">
                <a:solidFill>
                  <a:schemeClr val="bg1"/>
                </a:solidFill>
              </a:rPr>
              <a:t>Handle keyboard input and screen output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Game Rules &amp; Controls</a:t>
            </a:r>
            <a:endParaRPr lang="en-US" sz="3600" dirty="0"/>
          </a:p>
        </p:txBody>
      </p:sp>
      <p:sp>
        <p:nvSpPr>
          <p:cNvPr id="3" name="Stat card 1"/>
          <p:cNvSpPr/>
          <p:nvPr/>
        </p:nvSpPr>
        <p:spPr>
          <a:xfrm>
            <a:off x="457200" y="1280160"/>
            <a:ext cx="2560320" cy="1280160"/>
          </a:xfrm>
          <a:prstGeom prst="roundRect">
            <a:avLst>
              <a:gd name="adj" fmla="val 8571"/>
            </a:avLst>
          </a:prstGeom>
          <a:solidFill>
            <a:schemeClr val="tx2"/>
          </a:solidFill>
          <a:ln/>
        </p:spPr>
      </p:sp>
      <p:sp>
        <p:nvSpPr>
          <p:cNvPr id="4" name="Text 2"/>
          <p:cNvSpPr txBox="1"/>
          <p:nvPr/>
        </p:nvSpPr>
        <p:spPr>
          <a:xfrm>
            <a:off x="457200" y="1371600"/>
            <a:ext cx="2560320" cy="731520"/>
          </a:xfrm>
          <a:prstGeom prst="rect">
            <a:avLst/>
          </a:prstGeom>
          <a:noFill/>
          <a:ln/>
        </p:spPr>
        <p:txBody>
          <a:bodyPr wrap="square" lIns="0" tIns="0" rIns="0" bIns="0" rtlCol="0" anchor="ctr"/>
          <a:lstStyle/>
          <a:p>
            <a:pPr marL="0" indent="0" algn="ctr">
              <a:buNone/>
            </a:pPr>
            <a:r>
              <a:rPr lang="en-US" sz="4400" b="1" dirty="0">
                <a:solidFill>
                  <a:schemeClr val="accent1"/>
                </a:solidFill>
                <a:latin typeface="Courier New" pitchFamily="34" charset="0"/>
                <a:ea typeface="Courier New" pitchFamily="34" charset="-122"/>
                <a:cs typeface="Courier New" pitchFamily="34" charset="-120"/>
              </a:rPr>
              <a:t>4×4</a:t>
            </a:r>
            <a:endParaRPr lang="en-US" sz="4400" dirty="0"/>
          </a:p>
        </p:txBody>
      </p:sp>
      <p:sp>
        <p:nvSpPr>
          <p:cNvPr id="5" name="Text 3"/>
          <p:cNvSpPr txBox="1"/>
          <p:nvPr/>
        </p:nvSpPr>
        <p:spPr>
          <a:xfrm>
            <a:off x="457200" y="2103120"/>
            <a:ext cx="2560320" cy="320040"/>
          </a:xfrm>
          <a:prstGeom prst="rect">
            <a:avLst/>
          </a:prstGeom>
          <a:noFill/>
          <a:ln/>
        </p:spPr>
        <p:txBody>
          <a:bodyPr wrap="square" lIns="0" tIns="0" rIns="0" bIns="0" rtlCol="0" anchor="t"/>
          <a:lstStyle/>
          <a:p>
            <a:pPr marL="0" indent="0" algn="ctr">
              <a:buNone/>
            </a:pPr>
            <a:r>
              <a:rPr lang="en-US" sz="1400" dirty="0">
                <a:solidFill>
                  <a:schemeClr val="bg2"/>
                </a:solidFill>
              </a:rPr>
              <a:t>board</a:t>
            </a:r>
            <a:endParaRPr lang="en-US" sz="1400" dirty="0"/>
          </a:p>
        </p:txBody>
      </p:sp>
      <p:sp>
        <p:nvSpPr>
          <p:cNvPr id="6" name="Stat card 2"/>
          <p:cNvSpPr/>
          <p:nvPr/>
        </p:nvSpPr>
        <p:spPr>
          <a:xfrm>
            <a:off x="3291840" y="1280160"/>
            <a:ext cx="2560320" cy="1280160"/>
          </a:xfrm>
          <a:prstGeom prst="roundRect">
            <a:avLst>
              <a:gd name="adj" fmla="val 8571"/>
            </a:avLst>
          </a:prstGeom>
          <a:solidFill>
            <a:schemeClr val="tx2"/>
          </a:solidFill>
          <a:ln/>
        </p:spPr>
      </p:sp>
      <p:sp>
        <p:nvSpPr>
          <p:cNvPr id="7" name="Text 5"/>
          <p:cNvSpPr txBox="1"/>
          <p:nvPr/>
        </p:nvSpPr>
        <p:spPr>
          <a:xfrm>
            <a:off x="3291840" y="1371600"/>
            <a:ext cx="2560320" cy="731520"/>
          </a:xfrm>
          <a:prstGeom prst="rect">
            <a:avLst/>
          </a:prstGeom>
          <a:noFill/>
          <a:ln/>
        </p:spPr>
        <p:txBody>
          <a:bodyPr wrap="square" lIns="0" tIns="0" rIns="0" bIns="0" rtlCol="0" anchor="ctr"/>
          <a:lstStyle/>
          <a:p>
            <a:pPr marL="0" indent="0" algn="ctr">
              <a:buNone/>
            </a:pPr>
            <a:r>
              <a:rPr lang="en-US" sz="4400" b="1" dirty="0">
                <a:solidFill>
                  <a:schemeClr val="accent2"/>
                </a:solidFill>
                <a:latin typeface="Courier New" pitchFamily="34" charset="0"/>
                <a:ea typeface="Courier New" pitchFamily="34" charset="-122"/>
                <a:cs typeface="Courier New" pitchFamily="34" charset="-120"/>
              </a:rPr>
              <a:t>8</a:t>
            </a:r>
            <a:endParaRPr lang="en-US" sz="4400" dirty="0"/>
          </a:p>
        </p:txBody>
      </p:sp>
      <p:sp>
        <p:nvSpPr>
          <p:cNvPr id="8" name="Text 6"/>
          <p:cNvSpPr txBox="1"/>
          <p:nvPr/>
        </p:nvSpPr>
        <p:spPr>
          <a:xfrm>
            <a:off x="3291840" y="2103120"/>
            <a:ext cx="2560320" cy="320040"/>
          </a:xfrm>
          <a:prstGeom prst="rect">
            <a:avLst/>
          </a:prstGeom>
          <a:noFill/>
          <a:ln/>
        </p:spPr>
        <p:txBody>
          <a:bodyPr wrap="square" lIns="0" tIns="0" rIns="0" bIns="0" rtlCol="0" anchor="t"/>
          <a:lstStyle/>
          <a:p>
            <a:pPr marL="0" indent="0" algn="ctr">
              <a:buNone/>
            </a:pPr>
            <a:r>
              <a:rPr lang="en-US" sz="1400" dirty="0">
                <a:solidFill>
                  <a:schemeClr val="bg2"/>
                </a:solidFill>
              </a:rPr>
              <a:t>pairs to find</a:t>
            </a:r>
            <a:endParaRPr lang="en-US" sz="1400" dirty="0"/>
          </a:p>
        </p:txBody>
      </p:sp>
      <p:sp>
        <p:nvSpPr>
          <p:cNvPr id="9" name="Stat card 3"/>
          <p:cNvSpPr/>
          <p:nvPr/>
        </p:nvSpPr>
        <p:spPr>
          <a:xfrm>
            <a:off x="6126480" y="1280160"/>
            <a:ext cx="2560320" cy="1280160"/>
          </a:xfrm>
          <a:prstGeom prst="roundRect">
            <a:avLst>
              <a:gd name="adj" fmla="val 8571"/>
            </a:avLst>
          </a:prstGeom>
          <a:solidFill>
            <a:schemeClr val="tx2"/>
          </a:solidFill>
          <a:ln/>
        </p:spPr>
      </p:sp>
      <p:sp>
        <p:nvSpPr>
          <p:cNvPr id="10" name="Text 8"/>
          <p:cNvSpPr txBox="1"/>
          <p:nvPr/>
        </p:nvSpPr>
        <p:spPr>
          <a:xfrm>
            <a:off x="6126480" y="1371600"/>
            <a:ext cx="2560320" cy="731520"/>
          </a:xfrm>
          <a:prstGeom prst="rect">
            <a:avLst/>
          </a:prstGeom>
          <a:noFill/>
          <a:ln/>
        </p:spPr>
        <p:txBody>
          <a:bodyPr wrap="square" lIns="0" tIns="0" rIns="0" bIns="0" rtlCol="0" anchor="ctr"/>
          <a:lstStyle/>
          <a:p>
            <a:pPr marL="0" indent="0" algn="ctr">
              <a:buNone/>
            </a:pPr>
            <a:r>
              <a:rPr lang="en-US" sz="4400" b="1" dirty="0">
                <a:solidFill>
                  <a:schemeClr val="accent3"/>
                </a:solidFill>
                <a:latin typeface="Courier New" pitchFamily="34" charset="0"/>
                <a:ea typeface="Courier New" pitchFamily="34" charset="-122"/>
                <a:cs typeface="Courier New" pitchFamily="34" charset="-120"/>
              </a:rPr>
              <a:t>12</a:t>
            </a:r>
            <a:endParaRPr lang="en-US" sz="4400" dirty="0"/>
          </a:p>
        </p:txBody>
      </p:sp>
      <p:sp>
        <p:nvSpPr>
          <p:cNvPr id="11" name="Text 9"/>
          <p:cNvSpPr txBox="1"/>
          <p:nvPr/>
        </p:nvSpPr>
        <p:spPr>
          <a:xfrm>
            <a:off x="6126480" y="2103120"/>
            <a:ext cx="2560320" cy="320040"/>
          </a:xfrm>
          <a:prstGeom prst="rect">
            <a:avLst/>
          </a:prstGeom>
          <a:noFill/>
          <a:ln/>
        </p:spPr>
        <p:txBody>
          <a:bodyPr wrap="square" lIns="0" tIns="0" rIns="0" bIns="0" rtlCol="0" anchor="t"/>
          <a:lstStyle/>
          <a:p>
            <a:pPr marL="0" indent="0" algn="ctr">
              <a:buNone/>
            </a:pPr>
            <a:r>
              <a:rPr lang="en-US" sz="1400" dirty="0">
                <a:solidFill>
                  <a:schemeClr val="bg2"/>
                </a:solidFill>
              </a:rPr>
              <a:t>attempts allowed</a:t>
            </a:r>
            <a:endParaRPr lang="en-US" sz="1400" dirty="0"/>
          </a:p>
        </p:txBody>
      </p:sp>
      <p:sp>
        <p:nvSpPr>
          <p:cNvPr id="12" name="Key card 1"/>
          <p:cNvSpPr/>
          <p:nvPr/>
        </p:nvSpPr>
        <p:spPr>
          <a:xfrm>
            <a:off x="457200" y="2834640"/>
            <a:ext cx="1920240" cy="1005840"/>
          </a:xfrm>
          <a:prstGeom prst="roundRect">
            <a:avLst>
              <a:gd name="adj" fmla="val 10909"/>
            </a:avLst>
          </a:prstGeom>
          <a:solidFill>
            <a:schemeClr val="tx2"/>
          </a:solidFill>
          <a:ln/>
        </p:spPr>
      </p:sp>
      <p:sp>
        <p:nvSpPr>
          <p:cNvPr id="13" name="Text 11"/>
          <p:cNvSpPr txBox="1"/>
          <p:nvPr/>
        </p:nvSpPr>
        <p:spPr>
          <a:xfrm>
            <a:off x="457200" y="2926080"/>
            <a:ext cx="1920240" cy="457200"/>
          </a:xfrm>
          <a:prstGeom prst="rect">
            <a:avLst/>
          </a:prstGeom>
          <a:noFill/>
          <a:ln/>
        </p:spPr>
        <p:txBody>
          <a:bodyPr wrap="square" lIns="0" tIns="0" rIns="0" bIns="0" rtlCol="0" anchor="ctr"/>
          <a:lstStyle/>
          <a:p>
            <a:pPr marL="0" indent="0" algn="ctr">
              <a:buNone/>
            </a:pPr>
            <a:r>
              <a:rPr lang="en-US" sz="1800" b="1" dirty="0">
                <a:solidFill>
                  <a:schemeClr val="accent2"/>
                </a:solidFill>
                <a:latin typeface="Courier New" pitchFamily="34" charset="0"/>
                <a:ea typeface="Courier New" pitchFamily="34" charset="-122"/>
                <a:cs typeface="Courier New" pitchFamily="34" charset="-120"/>
              </a:rPr>
              <a:t>↑ ↓ ← →</a:t>
            </a:r>
            <a:endParaRPr lang="en-US" sz="1800" dirty="0"/>
          </a:p>
        </p:txBody>
      </p:sp>
      <p:sp>
        <p:nvSpPr>
          <p:cNvPr id="14" name="Text 12"/>
          <p:cNvSpPr txBox="1"/>
          <p:nvPr/>
        </p:nvSpPr>
        <p:spPr>
          <a:xfrm>
            <a:off x="457200" y="3383280"/>
            <a:ext cx="1920240" cy="320040"/>
          </a:xfrm>
          <a:prstGeom prst="rect">
            <a:avLst/>
          </a:prstGeom>
          <a:noFill/>
          <a:ln/>
        </p:spPr>
        <p:txBody>
          <a:bodyPr wrap="square" lIns="0" tIns="0" rIns="0" bIns="0" rtlCol="0" anchor="t"/>
          <a:lstStyle/>
          <a:p>
            <a:pPr marL="0" indent="0" algn="ctr">
              <a:buNone/>
            </a:pPr>
            <a:r>
              <a:rPr lang="en-US" sz="1400" dirty="0">
                <a:solidFill>
                  <a:schemeClr val="bg1"/>
                </a:solidFill>
              </a:rPr>
              <a:t>Move cursor</a:t>
            </a:r>
            <a:endParaRPr lang="en-US" sz="1400" dirty="0"/>
          </a:p>
        </p:txBody>
      </p:sp>
      <p:sp>
        <p:nvSpPr>
          <p:cNvPr id="15" name="Key card 2"/>
          <p:cNvSpPr/>
          <p:nvPr/>
        </p:nvSpPr>
        <p:spPr>
          <a:xfrm>
            <a:off x="2606040" y="2834640"/>
            <a:ext cx="1920240" cy="1005840"/>
          </a:xfrm>
          <a:prstGeom prst="roundRect">
            <a:avLst>
              <a:gd name="adj" fmla="val 10909"/>
            </a:avLst>
          </a:prstGeom>
          <a:solidFill>
            <a:schemeClr val="tx2"/>
          </a:solidFill>
          <a:ln/>
        </p:spPr>
      </p:sp>
      <p:sp>
        <p:nvSpPr>
          <p:cNvPr id="16" name="Text 14"/>
          <p:cNvSpPr txBox="1"/>
          <p:nvPr/>
        </p:nvSpPr>
        <p:spPr>
          <a:xfrm>
            <a:off x="2606040" y="2926080"/>
            <a:ext cx="1920240" cy="457200"/>
          </a:xfrm>
          <a:prstGeom prst="rect">
            <a:avLst/>
          </a:prstGeom>
          <a:noFill/>
          <a:ln/>
        </p:spPr>
        <p:txBody>
          <a:bodyPr wrap="square" lIns="0" tIns="0" rIns="0" bIns="0" rtlCol="0" anchor="ctr"/>
          <a:lstStyle/>
          <a:p>
            <a:pPr marL="0" indent="0" algn="ctr">
              <a:buNone/>
            </a:pPr>
            <a:r>
              <a:rPr lang="en-US" sz="1800" b="1" dirty="0">
                <a:solidFill>
                  <a:schemeClr val="accent2"/>
                </a:solidFill>
                <a:latin typeface="Courier New" pitchFamily="34" charset="0"/>
                <a:ea typeface="Courier New" pitchFamily="34" charset="-122"/>
                <a:cs typeface="Courier New" pitchFamily="34" charset="-120"/>
              </a:rPr>
              <a:t>ENTER</a:t>
            </a:r>
            <a:endParaRPr lang="en-US" sz="1800" dirty="0"/>
          </a:p>
        </p:txBody>
      </p:sp>
      <p:sp>
        <p:nvSpPr>
          <p:cNvPr id="17" name="Text 15"/>
          <p:cNvSpPr txBox="1"/>
          <p:nvPr/>
        </p:nvSpPr>
        <p:spPr>
          <a:xfrm>
            <a:off x="2606040" y="3383280"/>
            <a:ext cx="1920240" cy="320040"/>
          </a:xfrm>
          <a:prstGeom prst="rect">
            <a:avLst/>
          </a:prstGeom>
          <a:noFill/>
          <a:ln/>
        </p:spPr>
        <p:txBody>
          <a:bodyPr wrap="square" lIns="0" tIns="0" rIns="0" bIns="0" rtlCol="0" anchor="t"/>
          <a:lstStyle/>
          <a:p>
            <a:pPr marL="0" indent="0" algn="ctr">
              <a:buNone/>
            </a:pPr>
            <a:r>
              <a:rPr lang="en-US" sz="1400" dirty="0">
                <a:solidFill>
                  <a:schemeClr val="bg1"/>
                </a:solidFill>
              </a:rPr>
              <a:t>Select card</a:t>
            </a:r>
            <a:endParaRPr lang="en-US" sz="1400" dirty="0"/>
          </a:p>
        </p:txBody>
      </p:sp>
      <p:sp>
        <p:nvSpPr>
          <p:cNvPr id="18" name="Key card 3"/>
          <p:cNvSpPr/>
          <p:nvPr/>
        </p:nvSpPr>
        <p:spPr>
          <a:xfrm>
            <a:off x="4754880" y="2834640"/>
            <a:ext cx="1920240" cy="1005840"/>
          </a:xfrm>
          <a:prstGeom prst="roundRect">
            <a:avLst>
              <a:gd name="adj" fmla="val 10909"/>
            </a:avLst>
          </a:prstGeom>
          <a:solidFill>
            <a:schemeClr val="tx2"/>
          </a:solidFill>
          <a:ln/>
        </p:spPr>
      </p:sp>
      <p:sp>
        <p:nvSpPr>
          <p:cNvPr id="19" name="Text 17"/>
          <p:cNvSpPr txBox="1"/>
          <p:nvPr/>
        </p:nvSpPr>
        <p:spPr>
          <a:xfrm>
            <a:off x="4754880" y="2926080"/>
            <a:ext cx="1920240" cy="457200"/>
          </a:xfrm>
          <a:prstGeom prst="rect">
            <a:avLst/>
          </a:prstGeom>
          <a:noFill/>
          <a:ln/>
        </p:spPr>
        <p:txBody>
          <a:bodyPr wrap="square" lIns="0" tIns="0" rIns="0" bIns="0" rtlCol="0" anchor="ctr"/>
          <a:lstStyle/>
          <a:p>
            <a:pPr marL="0" indent="0" algn="ctr">
              <a:buNone/>
            </a:pPr>
            <a:r>
              <a:rPr lang="en-US" sz="1800" b="1" dirty="0">
                <a:solidFill>
                  <a:schemeClr val="accent2"/>
                </a:solidFill>
                <a:latin typeface="Courier New" pitchFamily="34" charset="0"/>
                <a:ea typeface="Courier New" pitchFamily="34" charset="-122"/>
                <a:cs typeface="Courier New" pitchFamily="34" charset="-120"/>
              </a:rPr>
              <a:t>R</a:t>
            </a:r>
            <a:endParaRPr lang="en-US" sz="1800" dirty="0"/>
          </a:p>
        </p:txBody>
      </p:sp>
      <p:sp>
        <p:nvSpPr>
          <p:cNvPr id="20" name="Text 18"/>
          <p:cNvSpPr txBox="1"/>
          <p:nvPr/>
        </p:nvSpPr>
        <p:spPr>
          <a:xfrm>
            <a:off x="4754880" y="3383280"/>
            <a:ext cx="1920240" cy="320040"/>
          </a:xfrm>
          <a:prstGeom prst="rect">
            <a:avLst/>
          </a:prstGeom>
          <a:noFill/>
          <a:ln/>
        </p:spPr>
        <p:txBody>
          <a:bodyPr wrap="square" lIns="0" tIns="0" rIns="0" bIns="0" rtlCol="0" anchor="t"/>
          <a:lstStyle/>
          <a:p>
            <a:pPr marL="0" indent="0" algn="ctr">
              <a:buNone/>
            </a:pPr>
            <a:r>
              <a:rPr lang="en-US" sz="1400" dirty="0">
                <a:solidFill>
                  <a:schemeClr val="bg1"/>
                </a:solidFill>
              </a:rPr>
              <a:t>Restart</a:t>
            </a:r>
            <a:endParaRPr lang="en-US" sz="1400" dirty="0"/>
          </a:p>
        </p:txBody>
      </p:sp>
      <p:sp>
        <p:nvSpPr>
          <p:cNvPr id="21" name="Key card 4"/>
          <p:cNvSpPr/>
          <p:nvPr/>
        </p:nvSpPr>
        <p:spPr>
          <a:xfrm>
            <a:off x="6903720" y="2834640"/>
            <a:ext cx="1920240" cy="1005840"/>
          </a:xfrm>
          <a:prstGeom prst="roundRect">
            <a:avLst>
              <a:gd name="adj" fmla="val 10909"/>
            </a:avLst>
          </a:prstGeom>
          <a:solidFill>
            <a:schemeClr val="tx2"/>
          </a:solidFill>
          <a:ln/>
        </p:spPr>
      </p:sp>
      <p:sp>
        <p:nvSpPr>
          <p:cNvPr id="22" name="Text 20"/>
          <p:cNvSpPr txBox="1"/>
          <p:nvPr/>
        </p:nvSpPr>
        <p:spPr>
          <a:xfrm>
            <a:off x="6903720" y="2926080"/>
            <a:ext cx="1920240" cy="457200"/>
          </a:xfrm>
          <a:prstGeom prst="rect">
            <a:avLst/>
          </a:prstGeom>
          <a:noFill/>
          <a:ln/>
        </p:spPr>
        <p:txBody>
          <a:bodyPr wrap="square" lIns="0" tIns="0" rIns="0" bIns="0" rtlCol="0" anchor="ctr"/>
          <a:lstStyle/>
          <a:p>
            <a:pPr marL="0" indent="0" algn="ctr">
              <a:buNone/>
            </a:pPr>
            <a:r>
              <a:rPr lang="en-US" sz="1800" b="1" dirty="0">
                <a:solidFill>
                  <a:schemeClr val="accent2"/>
                </a:solidFill>
                <a:latin typeface="Courier New" pitchFamily="34" charset="0"/>
                <a:ea typeface="Courier New" pitchFamily="34" charset="-122"/>
                <a:cs typeface="Courier New" pitchFamily="34" charset="-120"/>
              </a:rPr>
              <a:t>ESC</a:t>
            </a:r>
            <a:endParaRPr lang="en-US" sz="1800" dirty="0"/>
          </a:p>
        </p:txBody>
      </p:sp>
      <p:sp>
        <p:nvSpPr>
          <p:cNvPr id="23" name="Text 21"/>
          <p:cNvSpPr txBox="1"/>
          <p:nvPr/>
        </p:nvSpPr>
        <p:spPr>
          <a:xfrm>
            <a:off x="6903720" y="3383280"/>
            <a:ext cx="1920240" cy="320040"/>
          </a:xfrm>
          <a:prstGeom prst="rect">
            <a:avLst/>
          </a:prstGeom>
          <a:noFill/>
          <a:ln/>
        </p:spPr>
        <p:txBody>
          <a:bodyPr wrap="square" lIns="0" tIns="0" rIns="0" bIns="0" rtlCol="0" anchor="t"/>
          <a:lstStyle/>
          <a:p>
            <a:pPr marL="0" indent="0" algn="ctr">
              <a:buNone/>
            </a:pPr>
            <a:r>
              <a:rPr lang="en-US" sz="1400" dirty="0">
                <a:solidFill>
                  <a:schemeClr val="bg1"/>
                </a:solidFill>
              </a:rPr>
              <a:t>Exit</a:t>
            </a:r>
            <a:endParaRPr lang="en-US" sz="1400" dirty="0"/>
          </a:p>
        </p:txBody>
      </p:sp>
      <p:sp>
        <p:nvSpPr>
          <p:cNvPr id="24" name="Text 22"/>
          <p:cNvSpPr txBox="1"/>
          <p:nvPr/>
        </p:nvSpPr>
        <p:spPr>
          <a:xfrm>
            <a:off x="457200" y="4160520"/>
            <a:ext cx="8229600" cy="365760"/>
          </a:xfrm>
          <a:prstGeom prst="rect">
            <a:avLst/>
          </a:prstGeom>
          <a:noFill/>
          <a:ln/>
        </p:spPr>
        <p:txBody>
          <a:bodyPr wrap="square" lIns="0" tIns="0" rIns="0" bIns="0" rtlCol="0" anchor="t"/>
          <a:lstStyle/>
          <a:p>
            <a:pPr marL="0" indent="0" algn="l">
              <a:buNone/>
            </a:pPr>
            <a:r>
              <a:rPr lang="en-US" sz="1400" b="1" dirty="0">
                <a:solidFill>
                  <a:schemeClr val="accent5"/>
                </a:solidFill>
              </a:rPr>
              <a:t>Win: </a:t>
            </a:r>
            <a:r>
              <a:rPr lang="en-US" sz="1400" dirty="0">
                <a:solidFill>
                  <a:schemeClr val="bg1"/>
                </a:solidFill>
              </a:rPr>
              <a:t>all 8 pairs found.   </a:t>
            </a:r>
            <a:r>
              <a:rPr lang="en-US" sz="1400" b="1" dirty="0">
                <a:solidFill>
                  <a:schemeClr val="accent6"/>
                </a:solidFill>
              </a:rPr>
              <a:t>Game over: </a:t>
            </a:r>
            <a:r>
              <a:rPr lang="en-US" sz="1400" dirty="0">
                <a:solidFill>
                  <a:schemeClr val="bg1"/>
                </a:solidFill>
              </a:rPr>
              <a:t>12 attempts used.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Game in Action</a:t>
            </a:r>
            <a:endParaRPr lang="en-US" sz="3600" dirty="0"/>
          </a:p>
        </p:txBody>
      </p:sp>
      <p:sp>
        <p:nvSpPr>
          <p:cNvPr id="3" name="Screenshot frame 1"/>
          <p:cNvSpPr/>
          <p:nvPr/>
        </p:nvSpPr>
        <p:spPr>
          <a:xfrm>
            <a:off x="718340" y="1280160"/>
            <a:ext cx="3925139" cy="2834640"/>
          </a:xfrm>
          <a:prstGeom prst="roundRect">
            <a:avLst>
              <a:gd name="adj" fmla="val 3871"/>
            </a:avLst>
          </a:prstGeom>
          <a:solidFill>
            <a:schemeClr val="tx2"/>
          </a:solidFill>
          <a:ln/>
        </p:spPr>
      </p:sp>
      <p:pic>
        <p:nvPicPr>
          <p:cNvPr id="4" name="Screenshot 1" descr="Screenshot of the game: Start screen: all cards face down"/>
          <p:cNvPicPr>
            <a:picLocks noChangeAspect="1"/>
          </p:cNvPicPr>
          <p:nvPr/>
        </p:nvPicPr>
        <p:blipFill rotWithShape="1">
          <a:blip r:embed="rId3"/>
          <a:srcRect l="590"/>
          <a:stretch/>
        </p:blipFill>
        <p:spPr>
          <a:xfrm>
            <a:off x="831850" y="1371600"/>
            <a:ext cx="3720189" cy="2651760"/>
          </a:xfrm>
          <a:prstGeom prst="rect">
            <a:avLst/>
          </a:prstGeom>
        </p:spPr>
      </p:pic>
      <p:sp>
        <p:nvSpPr>
          <p:cNvPr id="5" name="Text 2"/>
          <p:cNvSpPr txBox="1"/>
          <p:nvPr/>
        </p:nvSpPr>
        <p:spPr>
          <a:xfrm>
            <a:off x="718340" y="4160520"/>
            <a:ext cx="3925139" cy="365760"/>
          </a:xfrm>
          <a:prstGeom prst="rect">
            <a:avLst/>
          </a:prstGeom>
          <a:noFill/>
          <a:ln/>
        </p:spPr>
        <p:txBody>
          <a:bodyPr wrap="square" lIns="0" tIns="0" rIns="0" bIns="0" rtlCol="0" anchor="t"/>
          <a:lstStyle/>
          <a:p>
            <a:pPr marL="0" indent="0" algn="ctr">
              <a:buNone/>
            </a:pPr>
            <a:r>
              <a:rPr lang="en-US" sz="1400" dirty="0">
                <a:solidFill>
                  <a:schemeClr val="accent1"/>
                </a:solidFill>
              </a:rPr>
              <a:t>Start screen: all cards face down</a:t>
            </a:r>
            <a:endParaRPr lang="en-US" sz="1400" dirty="0"/>
          </a:p>
        </p:txBody>
      </p:sp>
      <p:sp>
        <p:nvSpPr>
          <p:cNvPr id="6" name="Screenshot frame 2"/>
          <p:cNvSpPr/>
          <p:nvPr/>
        </p:nvSpPr>
        <p:spPr>
          <a:xfrm>
            <a:off x="4826359" y="1280160"/>
            <a:ext cx="3599301" cy="2834640"/>
          </a:xfrm>
          <a:prstGeom prst="roundRect">
            <a:avLst>
              <a:gd name="adj" fmla="val 3871"/>
            </a:avLst>
          </a:prstGeom>
          <a:solidFill>
            <a:schemeClr val="tx2"/>
          </a:solidFill>
          <a:ln/>
        </p:spPr>
      </p:sp>
      <p:pic>
        <p:nvPicPr>
          <p:cNvPr id="7" name="Screenshot 2" descr="Screenshot of the game: Mid-game: 4 attempts, 3 pairs found"/>
          <p:cNvPicPr>
            <a:picLocks noChangeAspect="1"/>
          </p:cNvPicPr>
          <p:nvPr/>
        </p:nvPicPr>
        <p:blipFill rotWithShape="1">
          <a:blip r:embed="rId4"/>
          <a:srcRect l="1217"/>
          <a:stretch/>
        </p:blipFill>
        <p:spPr>
          <a:xfrm>
            <a:off x="4959350" y="1371600"/>
            <a:ext cx="3374870" cy="2651760"/>
          </a:xfrm>
          <a:prstGeom prst="rect">
            <a:avLst/>
          </a:prstGeom>
        </p:spPr>
      </p:pic>
      <p:sp>
        <p:nvSpPr>
          <p:cNvPr id="8" name="Text 4"/>
          <p:cNvSpPr txBox="1"/>
          <p:nvPr/>
        </p:nvSpPr>
        <p:spPr>
          <a:xfrm>
            <a:off x="4826359" y="4160520"/>
            <a:ext cx="3599301" cy="365760"/>
          </a:xfrm>
          <a:prstGeom prst="rect">
            <a:avLst/>
          </a:prstGeom>
          <a:noFill/>
          <a:ln/>
        </p:spPr>
        <p:txBody>
          <a:bodyPr wrap="square" lIns="0" tIns="0" rIns="0" bIns="0" rtlCol="0" anchor="t"/>
          <a:lstStyle/>
          <a:p>
            <a:pPr marL="0" indent="0" algn="ctr">
              <a:buNone/>
            </a:pPr>
            <a:r>
              <a:rPr lang="en-US" sz="1400" dirty="0">
                <a:solidFill>
                  <a:schemeClr val="accent1"/>
                </a:solidFill>
              </a:rPr>
              <a:t>Mid-game: 4 attempts, 3 pairs found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Tools &amp; Technology</a:t>
            </a:r>
            <a:endParaRPr lang="en-US" sz="3600" dirty="0"/>
          </a:p>
        </p:txBody>
      </p:sp>
      <p:sp>
        <p:nvSpPr>
          <p:cNvPr id="3" name="Tool card 1"/>
          <p:cNvSpPr/>
          <p:nvPr/>
        </p:nvSpPr>
        <p:spPr>
          <a:xfrm>
            <a:off x="457200" y="1280160"/>
            <a:ext cx="1920240" cy="2743200"/>
          </a:xfrm>
          <a:prstGeom prst="roundRect">
            <a:avLst>
              <a:gd name="adj" fmla="val 5714"/>
            </a:avLst>
          </a:prstGeom>
          <a:solidFill>
            <a:schemeClr val="tx2"/>
          </a:solidFill>
          <a:ln/>
        </p:spPr>
      </p:sp>
      <p:sp>
        <p:nvSpPr>
          <p:cNvPr id="4" name="Tool icon 1 circle"/>
          <p:cNvSpPr/>
          <p:nvPr/>
        </p:nvSpPr>
        <p:spPr>
          <a:xfrm>
            <a:off x="1097280" y="1508760"/>
            <a:ext cx="640080" cy="640080"/>
          </a:xfrm>
          <a:prstGeom prst="ellipse">
            <a:avLst/>
          </a:prstGeom>
          <a:solidFill>
            <a:schemeClr val="accent1"/>
          </a:solidFill>
          <a:ln/>
        </p:spPr>
      </p:sp>
      <p:pic>
        <p:nvPicPr>
          <p:cNvPr id="5" name="Tool icon 1" descr="Tool icon 1"/>
          <p:cNvPicPr>
            <a:picLocks noChangeAspect="1"/>
          </p:cNvPicPr>
          <p:nvPr/>
        </p:nvPicPr>
        <p:blipFill>
          <a:blip r:embed="rId3"/>
          <a:stretch>
            <a:fillRect/>
          </a:stretch>
        </p:blipFill>
        <p:spPr>
          <a:xfrm>
            <a:off x="1257300" y="1668780"/>
            <a:ext cx="320040" cy="320040"/>
          </a:xfrm>
          <a:prstGeom prst="rect">
            <a:avLst/>
          </a:prstGeom>
        </p:spPr>
      </p:pic>
      <p:sp>
        <p:nvSpPr>
          <p:cNvPr id="6" name="Text 3"/>
          <p:cNvSpPr txBox="1"/>
          <p:nvPr/>
        </p:nvSpPr>
        <p:spPr>
          <a:xfrm>
            <a:off x="594360" y="2331720"/>
            <a:ext cx="1645920" cy="640080"/>
          </a:xfrm>
          <a:prstGeom prst="rect">
            <a:avLst/>
          </a:prstGeom>
          <a:noFill/>
          <a:ln/>
        </p:spPr>
        <p:txBody>
          <a:bodyPr wrap="square" lIns="0" tIns="0" rIns="0" bIns="0" rtlCol="0" anchor="ctr"/>
          <a:lstStyle/>
          <a:p>
            <a:pPr marL="0" indent="0" algn="ctr">
              <a:buNone/>
            </a:pPr>
            <a:r>
              <a:rPr lang="en-US" sz="1600" b="1" dirty="0">
                <a:solidFill>
                  <a:schemeClr val="bg1"/>
                </a:solidFill>
              </a:rPr>
              <a:t>8086 Assembly</a:t>
            </a:r>
            <a:endParaRPr lang="en-US" sz="1600" dirty="0"/>
          </a:p>
        </p:txBody>
      </p:sp>
      <p:sp>
        <p:nvSpPr>
          <p:cNvPr id="7" name="Text 4"/>
          <p:cNvSpPr txBox="1"/>
          <p:nvPr/>
        </p:nvSpPr>
        <p:spPr>
          <a:xfrm>
            <a:off x="594360" y="3017520"/>
            <a:ext cx="1645920" cy="868680"/>
          </a:xfrm>
          <a:prstGeom prst="rect">
            <a:avLst/>
          </a:prstGeom>
          <a:noFill/>
          <a:ln/>
        </p:spPr>
        <p:txBody>
          <a:bodyPr wrap="square" lIns="0" tIns="0" rIns="0" bIns="0" rtlCol="0" anchor="t"/>
          <a:lstStyle/>
          <a:p>
            <a:pPr marL="0" indent="0" algn="ctr">
              <a:buNone/>
            </a:pPr>
            <a:r>
              <a:rPr lang="en-US" sz="1400" dirty="0">
                <a:solidFill>
                  <a:schemeClr val="bg1"/>
                </a:solidFill>
              </a:rPr>
              <a:t>Low-level code using registers and memory</a:t>
            </a:r>
            <a:endParaRPr lang="en-US" sz="1400" dirty="0"/>
          </a:p>
        </p:txBody>
      </p:sp>
      <p:sp>
        <p:nvSpPr>
          <p:cNvPr id="8" name="Tool card 2"/>
          <p:cNvSpPr/>
          <p:nvPr/>
        </p:nvSpPr>
        <p:spPr>
          <a:xfrm>
            <a:off x="2606040" y="1280160"/>
            <a:ext cx="1920240" cy="2743200"/>
          </a:xfrm>
          <a:prstGeom prst="roundRect">
            <a:avLst>
              <a:gd name="adj" fmla="val 5714"/>
            </a:avLst>
          </a:prstGeom>
          <a:solidFill>
            <a:schemeClr val="tx2"/>
          </a:solidFill>
          <a:ln/>
        </p:spPr>
      </p:sp>
      <p:sp>
        <p:nvSpPr>
          <p:cNvPr id="9" name="Tool icon 2 circle"/>
          <p:cNvSpPr/>
          <p:nvPr/>
        </p:nvSpPr>
        <p:spPr>
          <a:xfrm>
            <a:off x="3246120" y="1508760"/>
            <a:ext cx="640080" cy="640080"/>
          </a:xfrm>
          <a:prstGeom prst="ellipse">
            <a:avLst/>
          </a:prstGeom>
          <a:solidFill>
            <a:schemeClr val="accent2"/>
          </a:solidFill>
          <a:ln/>
        </p:spPr>
      </p:sp>
      <p:pic>
        <p:nvPicPr>
          <p:cNvPr id="10" name="Tool icon 2" descr="Tool icon 2"/>
          <p:cNvPicPr>
            <a:picLocks noChangeAspect="1"/>
          </p:cNvPicPr>
          <p:nvPr/>
        </p:nvPicPr>
        <p:blipFill>
          <a:blip r:embed="rId4"/>
          <a:stretch>
            <a:fillRect/>
          </a:stretch>
        </p:blipFill>
        <p:spPr>
          <a:xfrm>
            <a:off x="3406140" y="1668780"/>
            <a:ext cx="320040" cy="320040"/>
          </a:xfrm>
          <a:prstGeom prst="rect">
            <a:avLst/>
          </a:prstGeom>
        </p:spPr>
      </p:pic>
      <p:sp>
        <p:nvSpPr>
          <p:cNvPr id="11" name="Text 7"/>
          <p:cNvSpPr txBox="1"/>
          <p:nvPr/>
        </p:nvSpPr>
        <p:spPr>
          <a:xfrm>
            <a:off x="2743200" y="2331720"/>
            <a:ext cx="1645920" cy="640080"/>
          </a:xfrm>
          <a:prstGeom prst="rect">
            <a:avLst/>
          </a:prstGeom>
          <a:noFill/>
          <a:ln/>
        </p:spPr>
        <p:txBody>
          <a:bodyPr wrap="square" lIns="0" tIns="0" rIns="0" bIns="0" rtlCol="0" anchor="ctr"/>
          <a:lstStyle/>
          <a:p>
            <a:pPr marL="0" indent="0" algn="ctr">
              <a:buNone/>
            </a:pPr>
            <a:r>
              <a:rPr lang="en-US" sz="1600" b="1" dirty="0">
                <a:solidFill>
                  <a:schemeClr val="bg1"/>
                </a:solidFill>
              </a:rPr>
              <a:t>EMU8086</a:t>
            </a:r>
            <a:endParaRPr lang="en-US" sz="1600" dirty="0"/>
          </a:p>
        </p:txBody>
      </p:sp>
      <p:sp>
        <p:nvSpPr>
          <p:cNvPr id="12" name="Text 8"/>
          <p:cNvSpPr txBox="1"/>
          <p:nvPr/>
        </p:nvSpPr>
        <p:spPr>
          <a:xfrm>
            <a:off x="2743200" y="3017520"/>
            <a:ext cx="1645920" cy="868680"/>
          </a:xfrm>
          <a:prstGeom prst="rect">
            <a:avLst/>
          </a:prstGeom>
          <a:noFill/>
          <a:ln/>
        </p:spPr>
        <p:txBody>
          <a:bodyPr wrap="square" lIns="0" tIns="0" rIns="0" bIns="0" rtlCol="0" anchor="t"/>
          <a:lstStyle/>
          <a:p>
            <a:pPr marL="0" indent="0" algn="ctr">
              <a:buNone/>
            </a:pPr>
            <a:r>
              <a:rPr lang="en-US" sz="1400" dirty="0">
                <a:solidFill>
                  <a:schemeClr val="bg1"/>
                </a:solidFill>
              </a:rPr>
              <a:t>Write, assemble, run and debug the program</a:t>
            </a:r>
            <a:endParaRPr lang="en-US" sz="1400" dirty="0"/>
          </a:p>
        </p:txBody>
      </p:sp>
      <p:sp>
        <p:nvSpPr>
          <p:cNvPr id="13" name="Tool card 3"/>
          <p:cNvSpPr/>
          <p:nvPr/>
        </p:nvSpPr>
        <p:spPr>
          <a:xfrm>
            <a:off x="4754880" y="1280160"/>
            <a:ext cx="1920240" cy="2743200"/>
          </a:xfrm>
          <a:prstGeom prst="roundRect">
            <a:avLst>
              <a:gd name="adj" fmla="val 5714"/>
            </a:avLst>
          </a:prstGeom>
          <a:solidFill>
            <a:schemeClr val="tx2"/>
          </a:solidFill>
          <a:ln/>
        </p:spPr>
      </p:sp>
      <p:sp>
        <p:nvSpPr>
          <p:cNvPr id="14" name="Tool icon 3 circle"/>
          <p:cNvSpPr/>
          <p:nvPr/>
        </p:nvSpPr>
        <p:spPr>
          <a:xfrm>
            <a:off x="5394960" y="1508760"/>
            <a:ext cx="640080" cy="640080"/>
          </a:xfrm>
          <a:prstGeom prst="ellipse">
            <a:avLst/>
          </a:prstGeom>
          <a:solidFill>
            <a:schemeClr val="accent3"/>
          </a:solidFill>
          <a:ln/>
        </p:spPr>
      </p:sp>
      <p:pic>
        <p:nvPicPr>
          <p:cNvPr id="15" name="Tool icon 3" descr="Tool icon 3"/>
          <p:cNvPicPr>
            <a:picLocks noChangeAspect="1"/>
          </p:cNvPicPr>
          <p:nvPr/>
        </p:nvPicPr>
        <p:blipFill>
          <a:blip r:embed="rId5"/>
          <a:stretch>
            <a:fillRect/>
          </a:stretch>
        </p:blipFill>
        <p:spPr>
          <a:xfrm>
            <a:off x="5554980" y="1668780"/>
            <a:ext cx="320040" cy="320040"/>
          </a:xfrm>
          <a:prstGeom prst="rect">
            <a:avLst/>
          </a:prstGeom>
        </p:spPr>
      </p:pic>
      <p:sp>
        <p:nvSpPr>
          <p:cNvPr id="16" name="Text 11"/>
          <p:cNvSpPr txBox="1"/>
          <p:nvPr/>
        </p:nvSpPr>
        <p:spPr>
          <a:xfrm>
            <a:off x="4892040" y="2331720"/>
            <a:ext cx="1645920" cy="640080"/>
          </a:xfrm>
          <a:prstGeom prst="rect">
            <a:avLst/>
          </a:prstGeom>
          <a:noFill/>
          <a:ln/>
        </p:spPr>
        <p:txBody>
          <a:bodyPr wrap="square" lIns="0" tIns="0" rIns="0" bIns="0" rtlCol="0" anchor="ctr"/>
          <a:lstStyle/>
          <a:p>
            <a:pPr marL="0" indent="0" algn="ctr">
              <a:buNone/>
            </a:pPr>
            <a:r>
              <a:rPr lang="en-US" sz="1600" b="1" dirty="0">
                <a:solidFill>
                  <a:schemeClr val="bg1"/>
                </a:solidFill>
              </a:rPr>
              <a:t>DOS INT 21h</a:t>
            </a:r>
            <a:endParaRPr lang="en-US" sz="1600" dirty="0"/>
          </a:p>
        </p:txBody>
      </p:sp>
      <p:sp>
        <p:nvSpPr>
          <p:cNvPr id="17" name="Text 12"/>
          <p:cNvSpPr txBox="1"/>
          <p:nvPr/>
        </p:nvSpPr>
        <p:spPr>
          <a:xfrm>
            <a:off x="4892040" y="3017520"/>
            <a:ext cx="1645920" cy="868680"/>
          </a:xfrm>
          <a:prstGeom prst="rect">
            <a:avLst/>
          </a:prstGeom>
          <a:noFill/>
          <a:ln/>
        </p:spPr>
        <p:txBody>
          <a:bodyPr wrap="square" lIns="0" tIns="0" rIns="0" bIns="0" rtlCol="0" anchor="t"/>
          <a:lstStyle/>
          <a:p>
            <a:pPr marL="0" indent="0" algn="ctr">
              <a:buNone/>
            </a:pPr>
            <a:r>
              <a:rPr lang="en-US" sz="1400" dirty="0">
                <a:solidFill>
                  <a:schemeClr val="bg1"/>
                </a:solidFill>
              </a:rPr>
              <a:t>Print characters and strings on screen</a:t>
            </a:r>
            <a:endParaRPr lang="en-US" sz="1400" dirty="0"/>
          </a:p>
        </p:txBody>
      </p:sp>
      <p:sp>
        <p:nvSpPr>
          <p:cNvPr id="18" name="Tool card 4"/>
          <p:cNvSpPr/>
          <p:nvPr/>
        </p:nvSpPr>
        <p:spPr>
          <a:xfrm>
            <a:off x="6903720" y="1280160"/>
            <a:ext cx="1920240" cy="2743200"/>
          </a:xfrm>
          <a:prstGeom prst="roundRect">
            <a:avLst>
              <a:gd name="adj" fmla="val 5714"/>
            </a:avLst>
          </a:prstGeom>
          <a:solidFill>
            <a:schemeClr val="tx2"/>
          </a:solidFill>
          <a:ln/>
        </p:spPr>
      </p:sp>
      <p:sp>
        <p:nvSpPr>
          <p:cNvPr id="19" name="Tool icon 4 circle"/>
          <p:cNvSpPr/>
          <p:nvPr/>
        </p:nvSpPr>
        <p:spPr>
          <a:xfrm>
            <a:off x="7543800" y="1508760"/>
            <a:ext cx="640080" cy="640080"/>
          </a:xfrm>
          <a:prstGeom prst="ellipse">
            <a:avLst/>
          </a:prstGeom>
          <a:solidFill>
            <a:schemeClr val="accent4"/>
          </a:solidFill>
          <a:ln/>
        </p:spPr>
      </p:sp>
      <p:pic>
        <p:nvPicPr>
          <p:cNvPr id="20" name="Tool icon 4" descr="Tool icon 4"/>
          <p:cNvPicPr>
            <a:picLocks noChangeAspect="1"/>
          </p:cNvPicPr>
          <p:nvPr/>
        </p:nvPicPr>
        <p:blipFill>
          <a:blip r:embed="rId6"/>
          <a:stretch>
            <a:fillRect/>
          </a:stretch>
        </p:blipFill>
        <p:spPr>
          <a:xfrm>
            <a:off x="7703820" y="1668780"/>
            <a:ext cx="320040" cy="320040"/>
          </a:xfrm>
          <a:prstGeom prst="rect">
            <a:avLst/>
          </a:prstGeom>
        </p:spPr>
      </p:pic>
      <p:sp>
        <p:nvSpPr>
          <p:cNvPr id="21" name="Text 15"/>
          <p:cNvSpPr txBox="1"/>
          <p:nvPr/>
        </p:nvSpPr>
        <p:spPr>
          <a:xfrm>
            <a:off x="7040880" y="2331720"/>
            <a:ext cx="1645920" cy="640080"/>
          </a:xfrm>
          <a:prstGeom prst="rect">
            <a:avLst/>
          </a:prstGeom>
          <a:noFill/>
          <a:ln/>
        </p:spPr>
        <p:txBody>
          <a:bodyPr wrap="square" lIns="0" tIns="0" rIns="0" bIns="0" rtlCol="0" anchor="ctr"/>
          <a:lstStyle/>
          <a:p>
            <a:pPr marL="0" indent="0" algn="ctr">
              <a:buNone/>
            </a:pPr>
            <a:r>
              <a:rPr lang="en-US" sz="1600" b="1" dirty="0">
                <a:solidFill>
                  <a:schemeClr val="bg1"/>
                </a:solidFill>
              </a:rPr>
              <a:t>BIOS INT 10h / 16h</a:t>
            </a:r>
            <a:endParaRPr lang="en-US" sz="1600" dirty="0"/>
          </a:p>
        </p:txBody>
      </p:sp>
      <p:sp>
        <p:nvSpPr>
          <p:cNvPr id="22" name="Text 16"/>
          <p:cNvSpPr txBox="1"/>
          <p:nvPr/>
        </p:nvSpPr>
        <p:spPr>
          <a:xfrm>
            <a:off x="7040880" y="3017520"/>
            <a:ext cx="1645920" cy="868680"/>
          </a:xfrm>
          <a:prstGeom prst="rect">
            <a:avLst/>
          </a:prstGeom>
          <a:noFill/>
          <a:ln/>
        </p:spPr>
        <p:txBody>
          <a:bodyPr wrap="square" lIns="0" tIns="0" rIns="0" bIns="0" rtlCol="0" anchor="t"/>
          <a:lstStyle/>
          <a:p>
            <a:pPr marL="0" indent="0" algn="ctr">
              <a:buNone/>
            </a:pPr>
            <a:r>
              <a:rPr lang="en-US" sz="1400" dirty="0">
                <a:solidFill>
                  <a:schemeClr val="bg1"/>
                </a:solidFill>
              </a:rPr>
              <a:t>Set cursor position and read key presses</a:t>
            </a:r>
            <a:endParaRPr lang="en-US" sz="1400" dirty="0"/>
          </a:p>
        </p:txBody>
      </p:sp>
      <p:sp>
        <p:nvSpPr>
          <p:cNvPr id="23" name="Text 17"/>
          <p:cNvSpPr txBox="1"/>
          <p:nvPr/>
        </p:nvSpPr>
        <p:spPr>
          <a:xfrm>
            <a:off x="457200" y="4251960"/>
            <a:ext cx="8229600" cy="320040"/>
          </a:xfrm>
          <a:prstGeom prst="rect">
            <a:avLst/>
          </a:prstGeom>
          <a:noFill/>
          <a:ln/>
        </p:spPr>
        <p:txBody>
          <a:bodyPr wrap="square" lIns="0" tIns="0" rIns="0" bIns="0" rtlCol="0" anchor="t"/>
          <a:lstStyle/>
          <a:p>
            <a:pPr marL="0" indent="0">
              <a:buNone/>
            </a:pPr>
            <a:r>
              <a:rPr lang="en-US" sz="1400" dirty="0">
                <a:solidFill>
                  <a:schemeClr val="bg2"/>
                </a:solidFill>
              </a:rPr>
              <a:t>Program type: </a:t>
            </a:r>
            <a:r>
              <a:rPr lang="en-US" sz="1400" b="1" dirty="0">
                <a:solidFill>
                  <a:schemeClr val="bg1"/>
                </a:solidFill>
              </a:rPr>
              <a:t>.COM file</a:t>
            </a:r>
            <a:r>
              <a:rPr lang="en-US" sz="1400" dirty="0">
                <a:solidFill>
                  <a:schemeClr val="bg2"/>
                </a:solidFill>
              </a:rPr>
              <a:t>  (</a:t>
            </a:r>
            <a:r>
              <a:rPr lang="en-US" sz="1400" dirty="0">
                <a:solidFill>
                  <a:schemeClr val="accent1"/>
                </a:solidFill>
                <a:latin typeface="Courier New" pitchFamily="34" charset="0"/>
                <a:ea typeface="Courier New" pitchFamily="34" charset="-122"/>
                <a:cs typeface="Courier New" pitchFamily="34" charset="-120"/>
              </a:rPr>
              <a:t>org 100h</a:t>
            </a:r>
            <a:r>
              <a:rPr lang="en-US" sz="1400" dirty="0">
                <a:solidFill>
                  <a:schemeClr val="bg2"/>
                </a:solidFill>
              </a:rPr>
              <a: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Program Design</a:t>
            </a:r>
            <a:endParaRPr lang="en-US" sz="3600" dirty="0"/>
          </a:p>
        </p:txBody>
      </p:sp>
      <p:sp>
        <p:nvSpPr>
          <p:cNvPr id="3" name="Data card"/>
          <p:cNvSpPr/>
          <p:nvPr/>
        </p:nvSpPr>
        <p:spPr>
          <a:xfrm>
            <a:off x="457200" y="1280160"/>
            <a:ext cx="3840480" cy="3291840"/>
          </a:xfrm>
          <a:prstGeom prst="roundRect">
            <a:avLst>
              <a:gd name="adj" fmla="val 3333"/>
            </a:avLst>
          </a:prstGeom>
          <a:solidFill>
            <a:schemeClr val="tx2"/>
          </a:solidFill>
          <a:ln/>
        </p:spPr>
      </p:sp>
      <p:sp>
        <p:nvSpPr>
          <p:cNvPr id="4" name="Text 2"/>
          <p:cNvSpPr txBox="1"/>
          <p:nvPr/>
        </p:nvSpPr>
        <p:spPr>
          <a:xfrm>
            <a:off x="685800" y="1417320"/>
            <a:ext cx="3383280" cy="365760"/>
          </a:xfrm>
          <a:prstGeom prst="rect">
            <a:avLst/>
          </a:prstGeom>
          <a:noFill/>
          <a:ln/>
        </p:spPr>
        <p:txBody>
          <a:bodyPr wrap="square" lIns="0" tIns="0" rIns="0" bIns="0" rtlCol="0" anchor="t"/>
          <a:lstStyle/>
          <a:p>
            <a:pPr marL="0" indent="0">
              <a:buNone/>
            </a:pPr>
            <a:r>
              <a:rPr lang="en-US" sz="1800" b="1" dirty="0">
                <a:solidFill>
                  <a:schemeClr val="accent1"/>
                </a:solidFill>
              </a:rPr>
              <a:t>Data (variables)</a:t>
            </a:r>
            <a:endParaRPr lang="en-US" sz="1800" dirty="0"/>
          </a:p>
        </p:txBody>
      </p:sp>
      <p:sp>
        <p:nvSpPr>
          <p:cNvPr id="5" name="Text 3"/>
          <p:cNvSpPr txBox="1"/>
          <p:nvPr/>
        </p:nvSpPr>
        <p:spPr>
          <a:xfrm>
            <a:off x="685800" y="1874520"/>
            <a:ext cx="3383280" cy="292608"/>
          </a:xfrm>
          <a:prstGeom prst="rect">
            <a:avLst/>
          </a:prstGeom>
          <a:noFill/>
          <a:ln/>
        </p:spPr>
        <p:txBody>
          <a:bodyPr wrap="square" lIns="0" tIns="0" rIns="0" bIns="0" rtlCol="0" anchor="t"/>
          <a:lstStyle/>
          <a:p>
            <a:pPr marL="0" indent="0">
              <a:buNone/>
            </a:pPr>
            <a:r>
              <a:rPr lang="en-US" sz="1400" b="1" dirty="0">
                <a:solidFill>
                  <a:schemeClr val="accent2"/>
                </a:solidFill>
                <a:latin typeface="Courier New" pitchFamily="34" charset="0"/>
                <a:ea typeface="Courier New" pitchFamily="34" charset="-122"/>
                <a:cs typeface="Courier New" pitchFamily="34" charset="-120"/>
              </a:rPr>
              <a:t>board / matched</a:t>
            </a:r>
            <a:endParaRPr lang="en-US" sz="1400" dirty="0"/>
          </a:p>
        </p:txBody>
      </p:sp>
      <p:sp>
        <p:nvSpPr>
          <p:cNvPr id="6" name="Text 4"/>
          <p:cNvSpPr txBox="1"/>
          <p:nvPr/>
        </p:nvSpPr>
        <p:spPr>
          <a:xfrm>
            <a:off x="685800" y="2167128"/>
            <a:ext cx="3383280" cy="274320"/>
          </a:xfrm>
          <a:prstGeom prst="rect">
            <a:avLst/>
          </a:prstGeom>
          <a:noFill/>
          <a:ln/>
        </p:spPr>
        <p:txBody>
          <a:bodyPr wrap="square" lIns="0" tIns="0" rIns="0" bIns="0" rtlCol="0" anchor="t"/>
          <a:lstStyle/>
          <a:p>
            <a:pPr marL="0" indent="0">
              <a:buNone/>
            </a:pPr>
            <a:r>
              <a:rPr lang="en-US" sz="1400" dirty="0">
                <a:solidFill>
                  <a:schemeClr val="bg2"/>
                </a:solidFill>
              </a:rPr>
              <a:t>16 card values and match flags</a:t>
            </a:r>
            <a:endParaRPr lang="en-US" sz="1400" dirty="0"/>
          </a:p>
        </p:txBody>
      </p:sp>
      <p:sp>
        <p:nvSpPr>
          <p:cNvPr id="7" name="Text 5"/>
          <p:cNvSpPr txBox="1"/>
          <p:nvPr/>
        </p:nvSpPr>
        <p:spPr>
          <a:xfrm>
            <a:off x="685800" y="2532888"/>
            <a:ext cx="3383280" cy="292608"/>
          </a:xfrm>
          <a:prstGeom prst="rect">
            <a:avLst/>
          </a:prstGeom>
          <a:noFill/>
          <a:ln/>
        </p:spPr>
        <p:txBody>
          <a:bodyPr wrap="square" lIns="0" tIns="0" rIns="0" bIns="0" rtlCol="0" anchor="t"/>
          <a:lstStyle/>
          <a:p>
            <a:pPr marL="0" indent="0">
              <a:buNone/>
            </a:pPr>
            <a:r>
              <a:rPr lang="en-US" sz="1400" b="1" dirty="0">
                <a:solidFill>
                  <a:schemeClr val="accent2"/>
                </a:solidFill>
                <a:latin typeface="Courier New" pitchFamily="34" charset="0"/>
                <a:ea typeface="Courier New" pitchFamily="34" charset="-122"/>
                <a:cs typeface="Courier New" pitchFamily="34" charset="-120"/>
              </a:rPr>
              <a:t>curRow / curCol</a:t>
            </a:r>
            <a:endParaRPr lang="en-US" sz="1400" dirty="0"/>
          </a:p>
        </p:txBody>
      </p:sp>
      <p:sp>
        <p:nvSpPr>
          <p:cNvPr id="8" name="Text 6"/>
          <p:cNvSpPr txBox="1"/>
          <p:nvPr/>
        </p:nvSpPr>
        <p:spPr>
          <a:xfrm>
            <a:off x="685800" y="2825496"/>
            <a:ext cx="3383280" cy="274320"/>
          </a:xfrm>
          <a:prstGeom prst="rect">
            <a:avLst/>
          </a:prstGeom>
          <a:noFill/>
          <a:ln/>
        </p:spPr>
        <p:txBody>
          <a:bodyPr wrap="square" lIns="0" tIns="0" rIns="0" bIns="0" rtlCol="0" anchor="t"/>
          <a:lstStyle/>
          <a:p>
            <a:pPr marL="0" indent="0">
              <a:buNone/>
            </a:pPr>
            <a:r>
              <a:rPr lang="en-US" sz="1400" dirty="0">
                <a:solidFill>
                  <a:schemeClr val="bg2"/>
                </a:solidFill>
              </a:rPr>
              <a:t>cursor position</a:t>
            </a:r>
            <a:endParaRPr lang="en-US" sz="1400" dirty="0"/>
          </a:p>
        </p:txBody>
      </p:sp>
      <p:sp>
        <p:nvSpPr>
          <p:cNvPr id="9" name="Text 7"/>
          <p:cNvSpPr txBox="1"/>
          <p:nvPr/>
        </p:nvSpPr>
        <p:spPr>
          <a:xfrm>
            <a:off x="685800" y="3191256"/>
            <a:ext cx="3383280" cy="292608"/>
          </a:xfrm>
          <a:prstGeom prst="rect">
            <a:avLst/>
          </a:prstGeom>
          <a:noFill/>
          <a:ln/>
        </p:spPr>
        <p:txBody>
          <a:bodyPr wrap="square" lIns="0" tIns="0" rIns="0" bIns="0" rtlCol="0" anchor="t"/>
          <a:lstStyle/>
          <a:p>
            <a:pPr marL="0" indent="0">
              <a:buNone/>
            </a:pPr>
            <a:r>
              <a:rPr lang="en-US" sz="1400" b="1" dirty="0">
                <a:solidFill>
                  <a:schemeClr val="accent2"/>
                </a:solidFill>
                <a:latin typeface="Courier New" pitchFamily="34" charset="0"/>
                <a:ea typeface="Courier New" pitchFamily="34" charset="-122"/>
                <a:cs typeface="Courier New" pitchFamily="34" charset="-120"/>
              </a:rPr>
              <a:t>firstCard / secondCard</a:t>
            </a:r>
            <a:endParaRPr lang="en-US" sz="1400" dirty="0"/>
          </a:p>
        </p:txBody>
      </p:sp>
      <p:sp>
        <p:nvSpPr>
          <p:cNvPr id="10" name="Text 8"/>
          <p:cNvSpPr txBox="1"/>
          <p:nvPr/>
        </p:nvSpPr>
        <p:spPr>
          <a:xfrm>
            <a:off x="685800" y="3483864"/>
            <a:ext cx="3383280" cy="274320"/>
          </a:xfrm>
          <a:prstGeom prst="rect">
            <a:avLst/>
          </a:prstGeom>
          <a:noFill/>
          <a:ln/>
        </p:spPr>
        <p:txBody>
          <a:bodyPr wrap="square" lIns="0" tIns="0" rIns="0" bIns="0" rtlCol="0" anchor="t"/>
          <a:lstStyle/>
          <a:p>
            <a:pPr marL="0" indent="0">
              <a:buNone/>
            </a:pPr>
            <a:r>
              <a:rPr lang="en-US" sz="1400" dirty="0">
                <a:solidFill>
                  <a:schemeClr val="bg2"/>
                </a:solidFill>
              </a:rPr>
              <a:t>current picks</a:t>
            </a:r>
            <a:endParaRPr lang="en-US" sz="1400" dirty="0"/>
          </a:p>
        </p:txBody>
      </p:sp>
      <p:sp>
        <p:nvSpPr>
          <p:cNvPr id="11" name="Text 9"/>
          <p:cNvSpPr txBox="1"/>
          <p:nvPr/>
        </p:nvSpPr>
        <p:spPr>
          <a:xfrm>
            <a:off x="685800" y="3849624"/>
            <a:ext cx="3383280" cy="292608"/>
          </a:xfrm>
          <a:prstGeom prst="rect">
            <a:avLst/>
          </a:prstGeom>
          <a:noFill/>
          <a:ln/>
        </p:spPr>
        <p:txBody>
          <a:bodyPr wrap="square" lIns="0" tIns="0" rIns="0" bIns="0" rtlCol="0" anchor="t"/>
          <a:lstStyle/>
          <a:p>
            <a:pPr marL="0" indent="0">
              <a:buNone/>
            </a:pPr>
            <a:r>
              <a:rPr lang="en-US" sz="1400" b="1" dirty="0">
                <a:solidFill>
                  <a:schemeClr val="accent2"/>
                </a:solidFill>
                <a:latin typeface="Courier New" pitchFamily="34" charset="0"/>
                <a:ea typeface="Courier New" pitchFamily="34" charset="-122"/>
                <a:cs typeface="Courier New" pitchFamily="34" charset="-120"/>
              </a:rPr>
              <a:t>attempts / pairs</a:t>
            </a:r>
            <a:endParaRPr lang="en-US" sz="1400" dirty="0"/>
          </a:p>
        </p:txBody>
      </p:sp>
      <p:sp>
        <p:nvSpPr>
          <p:cNvPr id="12" name="Text 10"/>
          <p:cNvSpPr txBox="1"/>
          <p:nvPr/>
        </p:nvSpPr>
        <p:spPr>
          <a:xfrm>
            <a:off x="685800" y="4142232"/>
            <a:ext cx="3383280" cy="274320"/>
          </a:xfrm>
          <a:prstGeom prst="rect">
            <a:avLst/>
          </a:prstGeom>
          <a:noFill/>
          <a:ln/>
        </p:spPr>
        <p:txBody>
          <a:bodyPr wrap="square" lIns="0" tIns="0" rIns="0" bIns="0" rtlCol="0" anchor="t"/>
          <a:lstStyle/>
          <a:p>
            <a:pPr marL="0" indent="0">
              <a:buNone/>
            </a:pPr>
            <a:r>
              <a:rPr lang="en-US" sz="1400" dirty="0">
                <a:solidFill>
                  <a:schemeClr val="bg2"/>
                </a:solidFill>
              </a:rPr>
              <a:t>score counters</a:t>
            </a:r>
            <a:endParaRPr lang="en-US" sz="1400" dirty="0"/>
          </a:p>
        </p:txBody>
      </p:sp>
      <p:sp>
        <p:nvSpPr>
          <p:cNvPr id="13" name="Procedures card"/>
          <p:cNvSpPr/>
          <p:nvPr/>
        </p:nvSpPr>
        <p:spPr>
          <a:xfrm>
            <a:off x="4572000" y="1280160"/>
            <a:ext cx="4114800" cy="3291840"/>
          </a:xfrm>
          <a:prstGeom prst="roundRect">
            <a:avLst>
              <a:gd name="adj" fmla="val 3333"/>
            </a:avLst>
          </a:prstGeom>
          <a:solidFill>
            <a:schemeClr val="tx2"/>
          </a:solidFill>
          <a:ln/>
        </p:spPr>
      </p:sp>
      <p:sp>
        <p:nvSpPr>
          <p:cNvPr id="14" name="Text 12"/>
          <p:cNvSpPr txBox="1"/>
          <p:nvPr/>
        </p:nvSpPr>
        <p:spPr>
          <a:xfrm>
            <a:off x="4800600" y="1417320"/>
            <a:ext cx="3657600" cy="365760"/>
          </a:xfrm>
          <a:prstGeom prst="rect">
            <a:avLst/>
          </a:prstGeom>
          <a:noFill/>
          <a:ln/>
        </p:spPr>
        <p:txBody>
          <a:bodyPr wrap="square" lIns="0" tIns="0" rIns="0" bIns="0" rtlCol="0" anchor="t"/>
          <a:lstStyle/>
          <a:p>
            <a:pPr marL="0" indent="0">
              <a:buNone/>
            </a:pPr>
            <a:r>
              <a:rPr lang="en-US" sz="1800" b="1" dirty="0">
                <a:solidFill>
                  <a:schemeClr val="accent1"/>
                </a:solidFill>
              </a:rPr>
              <a:t>Main procedures</a:t>
            </a:r>
            <a:endParaRPr lang="en-US" sz="1800" dirty="0"/>
          </a:p>
        </p:txBody>
      </p:sp>
      <p:sp>
        <p:nvSpPr>
          <p:cNvPr id="15" name="Text 13"/>
          <p:cNvSpPr txBox="1"/>
          <p:nvPr/>
        </p:nvSpPr>
        <p:spPr>
          <a:xfrm>
            <a:off x="4800600" y="1874520"/>
            <a:ext cx="1920240" cy="365760"/>
          </a:xfrm>
          <a:prstGeom prst="rect">
            <a:avLst/>
          </a:prstGeom>
          <a:noFill/>
          <a:ln/>
        </p:spPr>
        <p:txBody>
          <a:bodyPr wrap="square" lIns="0" tIns="0" rIns="0" bIns="0" rtlCol="0" anchor="ctr"/>
          <a:lstStyle/>
          <a:p>
            <a:pPr marL="0" indent="0">
              <a:buNone/>
            </a:pPr>
            <a:r>
              <a:rPr lang="en-US" sz="1400" b="1" dirty="0">
                <a:solidFill>
                  <a:schemeClr val="accent2"/>
                </a:solidFill>
                <a:latin typeface="Courier New" pitchFamily="34" charset="0"/>
                <a:ea typeface="Courier New" pitchFamily="34" charset="-122"/>
                <a:cs typeface="Courier New" pitchFamily="34" charset="-120"/>
              </a:rPr>
              <a:t>initGame</a:t>
            </a:r>
            <a:endParaRPr lang="en-US" sz="1400" dirty="0"/>
          </a:p>
        </p:txBody>
      </p:sp>
      <p:sp>
        <p:nvSpPr>
          <p:cNvPr id="16" name="Text 14"/>
          <p:cNvSpPr txBox="1"/>
          <p:nvPr/>
        </p:nvSpPr>
        <p:spPr>
          <a:xfrm>
            <a:off x="6766560" y="1874520"/>
            <a:ext cx="1828800" cy="365760"/>
          </a:xfrm>
          <a:prstGeom prst="rect">
            <a:avLst/>
          </a:prstGeom>
          <a:noFill/>
          <a:ln/>
        </p:spPr>
        <p:txBody>
          <a:bodyPr wrap="square" lIns="0" tIns="0" rIns="0" bIns="0" rtlCol="0" anchor="ctr"/>
          <a:lstStyle/>
          <a:p>
            <a:pPr marL="0" indent="0">
              <a:buNone/>
            </a:pPr>
            <a:r>
              <a:rPr lang="en-US" sz="1400" dirty="0">
                <a:solidFill>
                  <a:schemeClr val="bg1"/>
                </a:solidFill>
              </a:rPr>
              <a:t>reset all values</a:t>
            </a:r>
            <a:endParaRPr lang="en-US" sz="1400" dirty="0"/>
          </a:p>
        </p:txBody>
      </p:sp>
      <p:sp>
        <p:nvSpPr>
          <p:cNvPr id="17" name="Text 15"/>
          <p:cNvSpPr txBox="1"/>
          <p:nvPr/>
        </p:nvSpPr>
        <p:spPr>
          <a:xfrm>
            <a:off x="4800600" y="2313432"/>
            <a:ext cx="1920240" cy="365760"/>
          </a:xfrm>
          <a:prstGeom prst="rect">
            <a:avLst/>
          </a:prstGeom>
          <a:noFill/>
          <a:ln/>
        </p:spPr>
        <p:txBody>
          <a:bodyPr wrap="square" lIns="0" tIns="0" rIns="0" bIns="0" rtlCol="0" anchor="ctr"/>
          <a:lstStyle/>
          <a:p>
            <a:pPr marL="0" indent="0">
              <a:buNone/>
            </a:pPr>
            <a:r>
              <a:rPr lang="en-US" sz="1400" b="1" dirty="0">
                <a:solidFill>
                  <a:schemeClr val="accent2"/>
                </a:solidFill>
                <a:latin typeface="Courier New" pitchFamily="34" charset="0"/>
                <a:ea typeface="Courier New" pitchFamily="34" charset="-122"/>
                <a:cs typeface="Courier New" pitchFamily="34" charset="-120"/>
              </a:rPr>
              <a:t>drawScreen</a:t>
            </a:r>
            <a:endParaRPr lang="en-US" sz="1400" dirty="0"/>
          </a:p>
        </p:txBody>
      </p:sp>
      <p:sp>
        <p:nvSpPr>
          <p:cNvPr id="18" name="Text 16"/>
          <p:cNvSpPr txBox="1"/>
          <p:nvPr/>
        </p:nvSpPr>
        <p:spPr>
          <a:xfrm>
            <a:off x="6766560" y="2313432"/>
            <a:ext cx="1828800" cy="365760"/>
          </a:xfrm>
          <a:prstGeom prst="rect">
            <a:avLst/>
          </a:prstGeom>
          <a:noFill/>
          <a:ln/>
        </p:spPr>
        <p:txBody>
          <a:bodyPr wrap="square" lIns="0" tIns="0" rIns="0" bIns="0" rtlCol="0" anchor="ctr"/>
          <a:lstStyle/>
          <a:p>
            <a:pPr marL="0" indent="0">
              <a:buNone/>
            </a:pPr>
            <a:r>
              <a:rPr lang="en-US" sz="1400" dirty="0">
                <a:solidFill>
                  <a:schemeClr val="bg1"/>
                </a:solidFill>
              </a:rPr>
              <a:t>draw full screen once</a:t>
            </a:r>
            <a:endParaRPr lang="en-US" sz="1400" dirty="0"/>
          </a:p>
        </p:txBody>
      </p:sp>
      <p:sp>
        <p:nvSpPr>
          <p:cNvPr id="19" name="Text 17"/>
          <p:cNvSpPr txBox="1"/>
          <p:nvPr/>
        </p:nvSpPr>
        <p:spPr>
          <a:xfrm>
            <a:off x="4800600" y="2752344"/>
            <a:ext cx="1920240" cy="365760"/>
          </a:xfrm>
          <a:prstGeom prst="rect">
            <a:avLst/>
          </a:prstGeom>
          <a:noFill/>
          <a:ln/>
        </p:spPr>
        <p:txBody>
          <a:bodyPr wrap="square" lIns="0" tIns="0" rIns="0" bIns="0" rtlCol="0" anchor="ctr"/>
          <a:lstStyle/>
          <a:p>
            <a:pPr marL="0" indent="0">
              <a:buNone/>
            </a:pPr>
            <a:r>
              <a:rPr lang="en-US" sz="1400" b="1" dirty="0">
                <a:solidFill>
                  <a:schemeClr val="accent2"/>
                </a:solidFill>
                <a:latin typeface="Courier New" pitchFamily="34" charset="0"/>
                <a:ea typeface="Courier New" pitchFamily="34" charset="-122"/>
                <a:cs typeface="Courier New" pitchFamily="34" charset="-120"/>
              </a:rPr>
              <a:t>updateCursor</a:t>
            </a:r>
            <a:endParaRPr lang="en-US" sz="1400" dirty="0"/>
          </a:p>
        </p:txBody>
      </p:sp>
      <p:sp>
        <p:nvSpPr>
          <p:cNvPr id="20" name="Text 18"/>
          <p:cNvSpPr txBox="1"/>
          <p:nvPr/>
        </p:nvSpPr>
        <p:spPr>
          <a:xfrm>
            <a:off x="6766560" y="2752344"/>
            <a:ext cx="1828800" cy="365760"/>
          </a:xfrm>
          <a:prstGeom prst="rect">
            <a:avLst/>
          </a:prstGeom>
          <a:noFill/>
          <a:ln/>
        </p:spPr>
        <p:txBody>
          <a:bodyPr wrap="square" lIns="0" tIns="0" rIns="0" bIns="0" rtlCol="0" anchor="ctr"/>
          <a:lstStyle/>
          <a:p>
            <a:pPr marL="0" indent="0">
              <a:buNone/>
            </a:pPr>
            <a:r>
              <a:rPr lang="en-US" sz="1400" dirty="0">
                <a:solidFill>
                  <a:schemeClr val="bg1"/>
                </a:solidFill>
              </a:rPr>
              <a:t>move the &gt; marker</a:t>
            </a:r>
            <a:endParaRPr lang="en-US" sz="1400" dirty="0"/>
          </a:p>
        </p:txBody>
      </p:sp>
      <p:sp>
        <p:nvSpPr>
          <p:cNvPr id="21" name="Text 19"/>
          <p:cNvSpPr txBox="1"/>
          <p:nvPr/>
        </p:nvSpPr>
        <p:spPr>
          <a:xfrm>
            <a:off x="4800600" y="3191256"/>
            <a:ext cx="1920240" cy="365760"/>
          </a:xfrm>
          <a:prstGeom prst="rect">
            <a:avLst/>
          </a:prstGeom>
          <a:noFill/>
          <a:ln/>
        </p:spPr>
        <p:txBody>
          <a:bodyPr wrap="square" lIns="0" tIns="0" rIns="0" bIns="0" rtlCol="0" anchor="ctr"/>
          <a:lstStyle/>
          <a:p>
            <a:pPr marL="0" indent="0">
              <a:buNone/>
            </a:pPr>
            <a:r>
              <a:rPr lang="en-US" sz="1400" b="1" dirty="0">
                <a:solidFill>
                  <a:schemeClr val="accent2"/>
                </a:solidFill>
                <a:latin typeface="Courier New" pitchFamily="34" charset="0"/>
                <a:ea typeface="Courier New" pitchFamily="34" charset="-122"/>
                <a:cs typeface="Courier New" pitchFamily="34" charset="-120"/>
              </a:rPr>
              <a:t>selectCard</a:t>
            </a:r>
            <a:endParaRPr lang="en-US" sz="1400" dirty="0"/>
          </a:p>
        </p:txBody>
      </p:sp>
      <p:sp>
        <p:nvSpPr>
          <p:cNvPr id="22" name="Text 20"/>
          <p:cNvSpPr txBox="1"/>
          <p:nvPr/>
        </p:nvSpPr>
        <p:spPr>
          <a:xfrm>
            <a:off x="6766560" y="3191256"/>
            <a:ext cx="1828800" cy="365760"/>
          </a:xfrm>
          <a:prstGeom prst="rect">
            <a:avLst/>
          </a:prstGeom>
          <a:noFill/>
          <a:ln/>
        </p:spPr>
        <p:txBody>
          <a:bodyPr wrap="square" lIns="0" tIns="0" rIns="0" bIns="0" rtlCol="0" anchor="ctr"/>
          <a:lstStyle/>
          <a:p>
            <a:pPr marL="0" indent="0">
              <a:buNone/>
            </a:pPr>
            <a:r>
              <a:rPr lang="en-US" sz="1400" dirty="0">
                <a:solidFill>
                  <a:schemeClr val="bg1"/>
                </a:solidFill>
              </a:rPr>
              <a:t>flip and compare</a:t>
            </a:r>
            <a:endParaRPr lang="en-US" sz="1400" dirty="0"/>
          </a:p>
        </p:txBody>
      </p:sp>
      <p:sp>
        <p:nvSpPr>
          <p:cNvPr id="23" name="Text 21"/>
          <p:cNvSpPr txBox="1"/>
          <p:nvPr/>
        </p:nvSpPr>
        <p:spPr>
          <a:xfrm>
            <a:off x="4800600" y="3630168"/>
            <a:ext cx="1920240" cy="365760"/>
          </a:xfrm>
          <a:prstGeom prst="rect">
            <a:avLst/>
          </a:prstGeom>
          <a:noFill/>
          <a:ln/>
        </p:spPr>
        <p:txBody>
          <a:bodyPr wrap="square" lIns="0" tIns="0" rIns="0" bIns="0" rtlCol="0" anchor="ctr"/>
          <a:lstStyle/>
          <a:p>
            <a:pPr marL="0" indent="0">
              <a:buNone/>
            </a:pPr>
            <a:r>
              <a:rPr lang="en-US" sz="1400" b="1" dirty="0">
                <a:solidFill>
                  <a:schemeClr val="accent2"/>
                </a:solidFill>
                <a:latin typeface="Courier New" pitchFamily="34" charset="0"/>
                <a:ea typeface="Courier New" pitchFamily="34" charset="-122"/>
                <a:cs typeface="Courier New" pitchFamily="34" charset="-120"/>
              </a:rPr>
              <a:t>checkMatch</a:t>
            </a:r>
            <a:endParaRPr lang="en-US" sz="1400" dirty="0"/>
          </a:p>
        </p:txBody>
      </p:sp>
      <p:sp>
        <p:nvSpPr>
          <p:cNvPr id="24" name="Text 22"/>
          <p:cNvSpPr txBox="1"/>
          <p:nvPr/>
        </p:nvSpPr>
        <p:spPr>
          <a:xfrm>
            <a:off x="6766560" y="3630168"/>
            <a:ext cx="1828800" cy="365760"/>
          </a:xfrm>
          <a:prstGeom prst="rect">
            <a:avLst/>
          </a:prstGeom>
          <a:noFill/>
          <a:ln/>
        </p:spPr>
        <p:txBody>
          <a:bodyPr wrap="square" lIns="0" tIns="0" rIns="0" bIns="0" rtlCol="0" anchor="ctr"/>
          <a:lstStyle/>
          <a:p>
            <a:pPr marL="0" indent="0">
              <a:buNone/>
            </a:pPr>
            <a:r>
              <a:rPr lang="en-US" sz="1400" dirty="0">
                <a:solidFill>
                  <a:schemeClr val="bg1"/>
                </a:solidFill>
              </a:rPr>
              <a:t>compare, mark pairs</a:t>
            </a:r>
            <a:endParaRPr lang="en-US" sz="1400" dirty="0"/>
          </a:p>
        </p:txBody>
      </p:sp>
      <p:sp>
        <p:nvSpPr>
          <p:cNvPr id="25" name="Text 23"/>
          <p:cNvSpPr txBox="1"/>
          <p:nvPr/>
        </p:nvSpPr>
        <p:spPr>
          <a:xfrm>
            <a:off x="4800600" y="4069080"/>
            <a:ext cx="1920240" cy="365760"/>
          </a:xfrm>
          <a:prstGeom prst="rect">
            <a:avLst/>
          </a:prstGeom>
          <a:noFill/>
          <a:ln/>
        </p:spPr>
        <p:txBody>
          <a:bodyPr wrap="square" lIns="0" tIns="0" rIns="0" bIns="0" rtlCol="0" anchor="ctr"/>
          <a:lstStyle/>
          <a:p>
            <a:pPr marL="0" indent="0">
              <a:buNone/>
            </a:pPr>
            <a:r>
              <a:rPr lang="en-US" sz="1400" b="1" dirty="0">
                <a:solidFill>
                  <a:schemeClr val="accent2"/>
                </a:solidFill>
                <a:latin typeface="Courier New" pitchFamily="34" charset="0"/>
                <a:ea typeface="Courier New" pitchFamily="34" charset="-122"/>
                <a:cs typeface="Courier New" pitchFamily="34" charset="-120"/>
              </a:rPr>
              <a:t>winGame/loseGame</a:t>
            </a:r>
            <a:endParaRPr lang="en-US" sz="1400" dirty="0"/>
          </a:p>
        </p:txBody>
      </p:sp>
      <p:sp>
        <p:nvSpPr>
          <p:cNvPr id="26" name="Text 24"/>
          <p:cNvSpPr txBox="1"/>
          <p:nvPr/>
        </p:nvSpPr>
        <p:spPr>
          <a:xfrm>
            <a:off x="6766560" y="4069080"/>
            <a:ext cx="1828800" cy="365760"/>
          </a:xfrm>
          <a:prstGeom prst="rect">
            <a:avLst/>
          </a:prstGeom>
          <a:noFill/>
          <a:ln/>
        </p:spPr>
        <p:txBody>
          <a:bodyPr wrap="square" lIns="0" tIns="0" rIns="0" bIns="0" rtlCol="0" anchor="ctr"/>
          <a:lstStyle/>
          <a:p>
            <a:pPr marL="0" indent="0">
              <a:buNone/>
            </a:pPr>
            <a:r>
              <a:rPr lang="en-US" sz="1400" dirty="0">
                <a:solidFill>
                  <a:schemeClr val="bg1"/>
                </a:solidFill>
              </a:rPr>
              <a:t>end screens</a:t>
            </a:r>
            <a:endParaRPr lang="en-US" sz="1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Key COAL Concepts Used</a:t>
            </a:r>
            <a:endParaRPr lang="en-US" sz="3600" dirty="0"/>
          </a:p>
        </p:txBody>
      </p:sp>
      <p:sp>
        <p:nvSpPr>
          <p:cNvPr id="3" name="Concept card 1"/>
          <p:cNvSpPr/>
          <p:nvPr/>
        </p:nvSpPr>
        <p:spPr>
          <a:xfrm>
            <a:off x="457200" y="1280160"/>
            <a:ext cx="2560320" cy="1463040"/>
          </a:xfrm>
          <a:prstGeom prst="roundRect">
            <a:avLst>
              <a:gd name="adj" fmla="val 7500"/>
            </a:avLst>
          </a:prstGeom>
          <a:solidFill>
            <a:schemeClr val="tx2"/>
          </a:solidFill>
          <a:ln/>
        </p:spPr>
      </p:sp>
      <p:sp>
        <p:nvSpPr>
          <p:cNvPr id="4" name="Concept icon 1 circle"/>
          <p:cNvSpPr/>
          <p:nvPr/>
        </p:nvSpPr>
        <p:spPr>
          <a:xfrm>
            <a:off x="640080" y="1463040"/>
            <a:ext cx="457200" cy="457200"/>
          </a:xfrm>
          <a:prstGeom prst="ellipse">
            <a:avLst/>
          </a:prstGeom>
          <a:solidFill>
            <a:schemeClr val="accent1"/>
          </a:solidFill>
          <a:ln/>
        </p:spPr>
      </p:sp>
      <p:pic>
        <p:nvPicPr>
          <p:cNvPr id="5" name="Concept icon 1" descr="Concept icon 1"/>
          <p:cNvPicPr>
            <a:picLocks noChangeAspect="1"/>
          </p:cNvPicPr>
          <p:nvPr/>
        </p:nvPicPr>
        <p:blipFill>
          <a:blip r:embed="rId3"/>
          <a:stretch>
            <a:fillRect/>
          </a:stretch>
        </p:blipFill>
        <p:spPr>
          <a:xfrm>
            <a:off x="754380" y="1577340"/>
            <a:ext cx="228600" cy="228600"/>
          </a:xfrm>
          <a:prstGeom prst="rect">
            <a:avLst/>
          </a:prstGeom>
        </p:spPr>
      </p:pic>
      <p:sp>
        <p:nvSpPr>
          <p:cNvPr id="6" name="Text 3"/>
          <p:cNvSpPr txBox="1"/>
          <p:nvPr/>
        </p:nvSpPr>
        <p:spPr>
          <a:xfrm>
            <a:off x="1234440" y="1463040"/>
            <a:ext cx="1691640" cy="457200"/>
          </a:xfrm>
          <a:prstGeom prst="rect">
            <a:avLst/>
          </a:prstGeom>
          <a:noFill/>
          <a:ln/>
        </p:spPr>
        <p:txBody>
          <a:bodyPr wrap="square" lIns="0" tIns="0" rIns="0" bIns="0" rtlCol="0" anchor="ctr"/>
          <a:lstStyle/>
          <a:p>
            <a:pPr marL="0" indent="0">
              <a:buNone/>
            </a:pPr>
            <a:r>
              <a:rPr lang="en-US" sz="1500" b="1" dirty="0">
                <a:solidFill>
                  <a:schemeClr val="bg1"/>
                </a:solidFill>
              </a:rPr>
              <a:t>Arrays &amp; Indexing</a:t>
            </a:r>
            <a:endParaRPr lang="en-US" sz="1500" dirty="0"/>
          </a:p>
        </p:txBody>
      </p:sp>
      <p:sp>
        <p:nvSpPr>
          <p:cNvPr id="7" name="Text 4"/>
          <p:cNvSpPr txBox="1"/>
          <p:nvPr/>
        </p:nvSpPr>
        <p:spPr>
          <a:xfrm>
            <a:off x="640080" y="2057400"/>
            <a:ext cx="2240280" cy="594360"/>
          </a:xfrm>
          <a:prstGeom prst="rect">
            <a:avLst/>
          </a:prstGeom>
          <a:noFill/>
          <a:ln/>
        </p:spPr>
        <p:txBody>
          <a:bodyPr wrap="square" lIns="0" tIns="0" rIns="0" bIns="0" rtlCol="0" anchor="t"/>
          <a:lstStyle/>
          <a:p>
            <a:pPr marL="0" indent="0">
              <a:buNone/>
            </a:pPr>
            <a:r>
              <a:rPr lang="en-US" sz="1400" dirty="0">
                <a:solidFill>
                  <a:schemeClr val="bg1"/>
                </a:solidFill>
              </a:rPr>
              <a:t>index = row × 4 + column</a:t>
            </a:r>
            <a:endParaRPr lang="en-US" sz="1400" dirty="0"/>
          </a:p>
        </p:txBody>
      </p:sp>
      <p:sp>
        <p:nvSpPr>
          <p:cNvPr id="8" name="Concept card 2"/>
          <p:cNvSpPr/>
          <p:nvPr/>
        </p:nvSpPr>
        <p:spPr>
          <a:xfrm>
            <a:off x="3291840" y="1280160"/>
            <a:ext cx="2560320" cy="1463040"/>
          </a:xfrm>
          <a:prstGeom prst="roundRect">
            <a:avLst>
              <a:gd name="adj" fmla="val 7500"/>
            </a:avLst>
          </a:prstGeom>
          <a:solidFill>
            <a:schemeClr val="tx2"/>
          </a:solidFill>
          <a:ln/>
        </p:spPr>
      </p:sp>
      <p:sp>
        <p:nvSpPr>
          <p:cNvPr id="9" name="Concept icon 2 circle"/>
          <p:cNvSpPr/>
          <p:nvPr/>
        </p:nvSpPr>
        <p:spPr>
          <a:xfrm>
            <a:off x="3474720" y="1463040"/>
            <a:ext cx="457200" cy="457200"/>
          </a:xfrm>
          <a:prstGeom prst="ellipse">
            <a:avLst/>
          </a:prstGeom>
          <a:solidFill>
            <a:schemeClr val="accent2"/>
          </a:solidFill>
          <a:ln/>
        </p:spPr>
      </p:sp>
      <p:pic>
        <p:nvPicPr>
          <p:cNvPr id="10" name="Concept icon 2" descr="Concept icon 2"/>
          <p:cNvPicPr>
            <a:picLocks noChangeAspect="1"/>
          </p:cNvPicPr>
          <p:nvPr/>
        </p:nvPicPr>
        <p:blipFill>
          <a:blip r:embed="rId4"/>
          <a:stretch>
            <a:fillRect/>
          </a:stretch>
        </p:blipFill>
        <p:spPr>
          <a:xfrm>
            <a:off x="3589020" y="1577340"/>
            <a:ext cx="228600" cy="228600"/>
          </a:xfrm>
          <a:prstGeom prst="rect">
            <a:avLst/>
          </a:prstGeom>
        </p:spPr>
      </p:pic>
      <p:sp>
        <p:nvSpPr>
          <p:cNvPr id="11" name="Text 7"/>
          <p:cNvSpPr txBox="1"/>
          <p:nvPr/>
        </p:nvSpPr>
        <p:spPr>
          <a:xfrm>
            <a:off x="4069080" y="1463040"/>
            <a:ext cx="1691640" cy="457200"/>
          </a:xfrm>
          <a:prstGeom prst="rect">
            <a:avLst/>
          </a:prstGeom>
          <a:noFill/>
          <a:ln/>
        </p:spPr>
        <p:txBody>
          <a:bodyPr wrap="square" lIns="0" tIns="0" rIns="0" bIns="0" rtlCol="0" anchor="ctr"/>
          <a:lstStyle/>
          <a:p>
            <a:pPr marL="0" indent="0">
              <a:buNone/>
            </a:pPr>
            <a:r>
              <a:rPr lang="en-US" sz="1500" b="1" dirty="0">
                <a:solidFill>
                  <a:schemeClr val="bg1"/>
                </a:solidFill>
              </a:rPr>
              <a:t>Arithmetic</a:t>
            </a:r>
            <a:endParaRPr lang="en-US" sz="1500" dirty="0"/>
          </a:p>
        </p:txBody>
      </p:sp>
      <p:sp>
        <p:nvSpPr>
          <p:cNvPr id="12" name="Text 8"/>
          <p:cNvSpPr txBox="1"/>
          <p:nvPr/>
        </p:nvSpPr>
        <p:spPr>
          <a:xfrm>
            <a:off x="3474720" y="2057400"/>
            <a:ext cx="2240280" cy="594360"/>
          </a:xfrm>
          <a:prstGeom prst="rect">
            <a:avLst/>
          </a:prstGeom>
          <a:noFill/>
          <a:ln/>
        </p:spPr>
        <p:txBody>
          <a:bodyPr wrap="square" lIns="0" tIns="0" rIns="0" bIns="0" rtlCol="0" anchor="t"/>
          <a:lstStyle/>
          <a:p>
            <a:pPr marL="0" indent="0">
              <a:buNone/>
            </a:pPr>
            <a:r>
              <a:rPr lang="en-US" sz="1400" dirty="0">
                <a:solidFill>
                  <a:schemeClr val="bg1"/>
                </a:solidFill>
              </a:rPr>
              <a:t>MUL and DIV find positions and digits</a:t>
            </a:r>
            <a:endParaRPr lang="en-US" sz="1400" dirty="0"/>
          </a:p>
        </p:txBody>
      </p:sp>
      <p:sp>
        <p:nvSpPr>
          <p:cNvPr id="13" name="Concept card 3"/>
          <p:cNvSpPr/>
          <p:nvPr/>
        </p:nvSpPr>
        <p:spPr>
          <a:xfrm>
            <a:off x="6126480" y="1280160"/>
            <a:ext cx="2560320" cy="1463040"/>
          </a:xfrm>
          <a:prstGeom prst="roundRect">
            <a:avLst>
              <a:gd name="adj" fmla="val 7500"/>
            </a:avLst>
          </a:prstGeom>
          <a:solidFill>
            <a:schemeClr val="tx2"/>
          </a:solidFill>
          <a:ln/>
        </p:spPr>
      </p:sp>
      <p:sp>
        <p:nvSpPr>
          <p:cNvPr id="14" name="Concept icon 3 circle"/>
          <p:cNvSpPr/>
          <p:nvPr/>
        </p:nvSpPr>
        <p:spPr>
          <a:xfrm>
            <a:off x="6309360" y="1463040"/>
            <a:ext cx="457200" cy="457200"/>
          </a:xfrm>
          <a:prstGeom prst="ellipse">
            <a:avLst/>
          </a:prstGeom>
          <a:solidFill>
            <a:schemeClr val="accent3"/>
          </a:solidFill>
          <a:ln/>
        </p:spPr>
      </p:sp>
      <p:pic>
        <p:nvPicPr>
          <p:cNvPr id="15" name="Concept icon 3" descr="Concept icon 3"/>
          <p:cNvPicPr>
            <a:picLocks noChangeAspect="1"/>
          </p:cNvPicPr>
          <p:nvPr/>
        </p:nvPicPr>
        <p:blipFill>
          <a:blip r:embed="rId5"/>
          <a:stretch>
            <a:fillRect/>
          </a:stretch>
        </p:blipFill>
        <p:spPr>
          <a:xfrm>
            <a:off x="6423660" y="1577340"/>
            <a:ext cx="228600" cy="228600"/>
          </a:xfrm>
          <a:prstGeom prst="rect">
            <a:avLst/>
          </a:prstGeom>
        </p:spPr>
      </p:pic>
      <p:sp>
        <p:nvSpPr>
          <p:cNvPr id="16" name="Text 11"/>
          <p:cNvSpPr txBox="1"/>
          <p:nvPr/>
        </p:nvSpPr>
        <p:spPr>
          <a:xfrm>
            <a:off x="6903720" y="1463040"/>
            <a:ext cx="1691640" cy="457200"/>
          </a:xfrm>
          <a:prstGeom prst="rect">
            <a:avLst/>
          </a:prstGeom>
          <a:noFill/>
          <a:ln/>
        </p:spPr>
        <p:txBody>
          <a:bodyPr wrap="square" lIns="0" tIns="0" rIns="0" bIns="0" rtlCol="0" anchor="ctr"/>
          <a:lstStyle/>
          <a:p>
            <a:pPr marL="0" indent="0">
              <a:buNone/>
            </a:pPr>
            <a:r>
              <a:rPr lang="en-US" sz="1500" b="1" dirty="0">
                <a:solidFill>
                  <a:schemeClr val="bg1"/>
                </a:solidFill>
              </a:rPr>
              <a:t>Interrupts</a:t>
            </a:r>
            <a:endParaRPr lang="en-US" sz="1500" dirty="0"/>
          </a:p>
        </p:txBody>
      </p:sp>
      <p:sp>
        <p:nvSpPr>
          <p:cNvPr id="17" name="Text 12"/>
          <p:cNvSpPr txBox="1"/>
          <p:nvPr/>
        </p:nvSpPr>
        <p:spPr>
          <a:xfrm>
            <a:off x="6309360" y="2057400"/>
            <a:ext cx="2240280" cy="594360"/>
          </a:xfrm>
          <a:prstGeom prst="rect">
            <a:avLst/>
          </a:prstGeom>
          <a:noFill/>
          <a:ln/>
        </p:spPr>
        <p:txBody>
          <a:bodyPr wrap="square" lIns="0" tIns="0" rIns="0" bIns="0" rtlCol="0" anchor="t"/>
          <a:lstStyle/>
          <a:p>
            <a:pPr marL="0" indent="0">
              <a:buNone/>
            </a:pPr>
            <a:r>
              <a:rPr lang="en-US" sz="1400" dirty="0">
                <a:solidFill>
                  <a:schemeClr val="bg1"/>
                </a:solidFill>
              </a:rPr>
              <a:t>INT 21h, 10h and 16h for I/O</a:t>
            </a:r>
            <a:endParaRPr lang="en-US" sz="1400" dirty="0"/>
          </a:p>
        </p:txBody>
      </p:sp>
      <p:sp>
        <p:nvSpPr>
          <p:cNvPr id="18" name="Concept card 4"/>
          <p:cNvSpPr/>
          <p:nvPr/>
        </p:nvSpPr>
        <p:spPr>
          <a:xfrm>
            <a:off x="457200" y="2971800"/>
            <a:ext cx="2560320" cy="1463040"/>
          </a:xfrm>
          <a:prstGeom prst="roundRect">
            <a:avLst>
              <a:gd name="adj" fmla="val 7500"/>
            </a:avLst>
          </a:prstGeom>
          <a:solidFill>
            <a:schemeClr val="tx2"/>
          </a:solidFill>
          <a:ln/>
        </p:spPr>
      </p:sp>
      <p:sp>
        <p:nvSpPr>
          <p:cNvPr id="19" name="Concept icon 4 circle"/>
          <p:cNvSpPr/>
          <p:nvPr/>
        </p:nvSpPr>
        <p:spPr>
          <a:xfrm>
            <a:off x="640080" y="3154680"/>
            <a:ext cx="457200" cy="457200"/>
          </a:xfrm>
          <a:prstGeom prst="ellipse">
            <a:avLst/>
          </a:prstGeom>
          <a:solidFill>
            <a:schemeClr val="accent4"/>
          </a:solidFill>
          <a:ln/>
        </p:spPr>
      </p:sp>
      <p:pic>
        <p:nvPicPr>
          <p:cNvPr id="20" name="Concept icon 4" descr="Concept icon 4"/>
          <p:cNvPicPr>
            <a:picLocks noChangeAspect="1"/>
          </p:cNvPicPr>
          <p:nvPr/>
        </p:nvPicPr>
        <p:blipFill>
          <a:blip r:embed="rId6"/>
          <a:stretch>
            <a:fillRect/>
          </a:stretch>
        </p:blipFill>
        <p:spPr>
          <a:xfrm>
            <a:off x="754380" y="3268980"/>
            <a:ext cx="228600" cy="228600"/>
          </a:xfrm>
          <a:prstGeom prst="rect">
            <a:avLst/>
          </a:prstGeom>
        </p:spPr>
      </p:pic>
      <p:sp>
        <p:nvSpPr>
          <p:cNvPr id="21" name="Text 15"/>
          <p:cNvSpPr txBox="1"/>
          <p:nvPr/>
        </p:nvSpPr>
        <p:spPr>
          <a:xfrm>
            <a:off x="1234440" y="3154680"/>
            <a:ext cx="1691640" cy="457200"/>
          </a:xfrm>
          <a:prstGeom prst="rect">
            <a:avLst/>
          </a:prstGeom>
          <a:noFill/>
          <a:ln/>
        </p:spPr>
        <p:txBody>
          <a:bodyPr wrap="square" lIns="0" tIns="0" rIns="0" bIns="0" rtlCol="0" anchor="ctr"/>
          <a:lstStyle/>
          <a:p>
            <a:pPr marL="0" indent="0">
              <a:buNone/>
            </a:pPr>
            <a:r>
              <a:rPr lang="en-US" sz="1500" b="1" dirty="0">
                <a:solidFill>
                  <a:schemeClr val="bg1"/>
                </a:solidFill>
              </a:rPr>
              <a:t>Procedures</a:t>
            </a:r>
            <a:endParaRPr lang="en-US" sz="1500" dirty="0"/>
          </a:p>
        </p:txBody>
      </p:sp>
      <p:sp>
        <p:nvSpPr>
          <p:cNvPr id="22" name="Text 16"/>
          <p:cNvSpPr txBox="1"/>
          <p:nvPr/>
        </p:nvSpPr>
        <p:spPr>
          <a:xfrm>
            <a:off x="640080" y="3749040"/>
            <a:ext cx="2240280" cy="594360"/>
          </a:xfrm>
          <a:prstGeom prst="rect">
            <a:avLst/>
          </a:prstGeom>
          <a:noFill/>
          <a:ln/>
        </p:spPr>
        <p:txBody>
          <a:bodyPr wrap="square" lIns="0" tIns="0" rIns="0" bIns="0" rtlCol="0" anchor="t"/>
          <a:lstStyle/>
          <a:p>
            <a:pPr marL="0" indent="0">
              <a:buNone/>
            </a:pPr>
            <a:r>
              <a:rPr lang="en-US" sz="1400" dirty="0">
                <a:solidFill>
                  <a:schemeClr val="bg1"/>
                </a:solidFill>
              </a:rPr>
              <a:t>CALL and RET keep code modular</a:t>
            </a:r>
            <a:endParaRPr lang="en-US" sz="1400" dirty="0"/>
          </a:p>
        </p:txBody>
      </p:sp>
      <p:sp>
        <p:nvSpPr>
          <p:cNvPr id="23" name="Concept card 5"/>
          <p:cNvSpPr/>
          <p:nvPr/>
        </p:nvSpPr>
        <p:spPr>
          <a:xfrm>
            <a:off x="3291840" y="2971800"/>
            <a:ext cx="2560320" cy="1463040"/>
          </a:xfrm>
          <a:prstGeom prst="roundRect">
            <a:avLst>
              <a:gd name="adj" fmla="val 7500"/>
            </a:avLst>
          </a:prstGeom>
          <a:solidFill>
            <a:schemeClr val="tx2"/>
          </a:solidFill>
          <a:ln/>
        </p:spPr>
      </p:sp>
      <p:sp>
        <p:nvSpPr>
          <p:cNvPr id="24" name="Concept icon 5 circle"/>
          <p:cNvSpPr/>
          <p:nvPr/>
        </p:nvSpPr>
        <p:spPr>
          <a:xfrm>
            <a:off x="3474720" y="3154680"/>
            <a:ext cx="457200" cy="457200"/>
          </a:xfrm>
          <a:prstGeom prst="ellipse">
            <a:avLst/>
          </a:prstGeom>
          <a:solidFill>
            <a:schemeClr val="accent5"/>
          </a:solidFill>
          <a:ln/>
        </p:spPr>
      </p:sp>
      <p:pic>
        <p:nvPicPr>
          <p:cNvPr id="25" name="Concept icon 5" descr="Concept icon 5"/>
          <p:cNvPicPr>
            <a:picLocks noChangeAspect="1"/>
          </p:cNvPicPr>
          <p:nvPr/>
        </p:nvPicPr>
        <p:blipFill>
          <a:blip r:embed="rId7"/>
          <a:stretch>
            <a:fillRect/>
          </a:stretch>
        </p:blipFill>
        <p:spPr>
          <a:xfrm>
            <a:off x="3589020" y="3268980"/>
            <a:ext cx="228600" cy="228600"/>
          </a:xfrm>
          <a:prstGeom prst="rect">
            <a:avLst/>
          </a:prstGeom>
        </p:spPr>
      </p:pic>
      <p:sp>
        <p:nvSpPr>
          <p:cNvPr id="26" name="Text 19"/>
          <p:cNvSpPr txBox="1"/>
          <p:nvPr/>
        </p:nvSpPr>
        <p:spPr>
          <a:xfrm>
            <a:off x="4069080" y="3154680"/>
            <a:ext cx="1691640" cy="457200"/>
          </a:xfrm>
          <a:prstGeom prst="rect">
            <a:avLst/>
          </a:prstGeom>
          <a:noFill/>
          <a:ln/>
        </p:spPr>
        <p:txBody>
          <a:bodyPr wrap="square" lIns="0" tIns="0" rIns="0" bIns="0" rtlCol="0" anchor="ctr"/>
          <a:lstStyle/>
          <a:p>
            <a:pPr marL="0" indent="0">
              <a:buNone/>
            </a:pPr>
            <a:r>
              <a:rPr lang="en-US" sz="1500" b="1" dirty="0">
                <a:solidFill>
                  <a:schemeClr val="bg1"/>
                </a:solidFill>
              </a:rPr>
              <a:t>Jumps &amp; Flags</a:t>
            </a:r>
            <a:endParaRPr lang="en-US" sz="1500" dirty="0"/>
          </a:p>
        </p:txBody>
      </p:sp>
      <p:sp>
        <p:nvSpPr>
          <p:cNvPr id="27" name="Text 20"/>
          <p:cNvSpPr txBox="1"/>
          <p:nvPr/>
        </p:nvSpPr>
        <p:spPr>
          <a:xfrm>
            <a:off x="3474720" y="3749040"/>
            <a:ext cx="2240280" cy="594360"/>
          </a:xfrm>
          <a:prstGeom prst="rect">
            <a:avLst/>
          </a:prstGeom>
          <a:noFill/>
          <a:ln/>
        </p:spPr>
        <p:txBody>
          <a:bodyPr wrap="square" lIns="0" tIns="0" rIns="0" bIns="0" rtlCol="0" anchor="t"/>
          <a:lstStyle/>
          <a:p>
            <a:pPr marL="0" indent="0">
              <a:buNone/>
            </a:pPr>
            <a:r>
              <a:rPr lang="en-US" sz="1400" dirty="0">
                <a:solidFill>
                  <a:schemeClr val="bg1"/>
                </a:solidFill>
              </a:rPr>
              <a:t>CMP with JE, JNE, JB drives the logic</a:t>
            </a:r>
            <a:endParaRPr lang="en-US" sz="1400" dirty="0"/>
          </a:p>
        </p:txBody>
      </p:sp>
      <p:sp>
        <p:nvSpPr>
          <p:cNvPr id="28" name="Concept card 6"/>
          <p:cNvSpPr/>
          <p:nvPr/>
        </p:nvSpPr>
        <p:spPr>
          <a:xfrm>
            <a:off x="6126480" y="2971800"/>
            <a:ext cx="2560320" cy="1463040"/>
          </a:xfrm>
          <a:prstGeom prst="roundRect">
            <a:avLst>
              <a:gd name="adj" fmla="val 7500"/>
            </a:avLst>
          </a:prstGeom>
          <a:solidFill>
            <a:schemeClr val="tx2"/>
          </a:solidFill>
          <a:ln/>
        </p:spPr>
      </p:sp>
      <p:sp>
        <p:nvSpPr>
          <p:cNvPr id="29" name="Concept icon 6 circle"/>
          <p:cNvSpPr/>
          <p:nvPr/>
        </p:nvSpPr>
        <p:spPr>
          <a:xfrm>
            <a:off x="6309360" y="3154680"/>
            <a:ext cx="457200" cy="457200"/>
          </a:xfrm>
          <a:prstGeom prst="ellipse">
            <a:avLst/>
          </a:prstGeom>
          <a:solidFill>
            <a:schemeClr val="accent6"/>
          </a:solidFill>
          <a:ln/>
        </p:spPr>
      </p:sp>
      <p:pic>
        <p:nvPicPr>
          <p:cNvPr id="30" name="Concept icon 6" descr="Concept icon 6"/>
          <p:cNvPicPr>
            <a:picLocks noChangeAspect="1"/>
          </p:cNvPicPr>
          <p:nvPr/>
        </p:nvPicPr>
        <p:blipFill>
          <a:blip r:embed="rId8"/>
          <a:stretch>
            <a:fillRect/>
          </a:stretch>
        </p:blipFill>
        <p:spPr>
          <a:xfrm>
            <a:off x="6423660" y="3268980"/>
            <a:ext cx="228600" cy="228600"/>
          </a:xfrm>
          <a:prstGeom prst="rect">
            <a:avLst/>
          </a:prstGeom>
        </p:spPr>
      </p:pic>
      <p:sp>
        <p:nvSpPr>
          <p:cNvPr id="31" name="Text 23"/>
          <p:cNvSpPr txBox="1"/>
          <p:nvPr/>
        </p:nvSpPr>
        <p:spPr>
          <a:xfrm>
            <a:off x="6903720" y="3154680"/>
            <a:ext cx="1691640" cy="457200"/>
          </a:xfrm>
          <a:prstGeom prst="rect">
            <a:avLst/>
          </a:prstGeom>
          <a:noFill/>
          <a:ln/>
        </p:spPr>
        <p:txBody>
          <a:bodyPr wrap="square" lIns="0" tIns="0" rIns="0" bIns="0" rtlCol="0" anchor="ctr"/>
          <a:lstStyle/>
          <a:p>
            <a:pPr marL="0" indent="0">
              <a:buNone/>
            </a:pPr>
            <a:r>
              <a:rPr lang="en-US" sz="1500" b="1" dirty="0">
                <a:solidFill>
                  <a:schemeClr val="bg1"/>
                </a:solidFill>
              </a:rPr>
              <a:t>Smart Screen Updates</a:t>
            </a:r>
            <a:endParaRPr lang="en-US" sz="1500" dirty="0"/>
          </a:p>
        </p:txBody>
      </p:sp>
      <p:sp>
        <p:nvSpPr>
          <p:cNvPr id="32" name="Text 24"/>
          <p:cNvSpPr txBox="1"/>
          <p:nvPr/>
        </p:nvSpPr>
        <p:spPr>
          <a:xfrm>
            <a:off x="6309360" y="3749040"/>
            <a:ext cx="2240280" cy="594360"/>
          </a:xfrm>
          <a:prstGeom prst="rect">
            <a:avLst/>
          </a:prstGeom>
          <a:noFill/>
          <a:ln/>
        </p:spPr>
        <p:txBody>
          <a:bodyPr wrap="square" lIns="0" tIns="0" rIns="0" bIns="0" rtlCol="0" anchor="t"/>
          <a:lstStyle/>
          <a:p>
            <a:pPr marL="0" indent="0">
              <a:buNone/>
            </a:pPr>
            <a:r>
              <a:rPr lang="en-US" sz="1400" dirty="0">
                <a:solidFill>
                  <a:schemeClr val="bg1"/>
                </a:solidFill>
              </a:rPr>
              <a:t>Only changed cards are redrawn</a:t>
            </a:r>
            <a:endParaRPr lang="en-US" sz="1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Game Flow</a:t>
            </a:r>
            <a:endParaRPr lang="en-US" sz="3600" dirty="0"/>
          </a:p>
        </p:txBody>
      </p:sp>
      <p:sp>
        <p:nvSpPr>
          <p:cNvPr id="3" name="Flow box 1"/>
          <p:cNvSpPr/>
          <p:nvPr/>
        </p:nvSpPr>
        <p:spPr>
          <a:xfrm>
            <a:off x="457200" y="1371600"/>
            <a:ext cx="1828800" cy="1097280"/>
          </a:xfrm>
          <a:prstGeom prst="roundRect">
            <a:avLst>
              <a:gd name="adj" fmla="val 10000"/>
            </a:avLst>
          </a:prstGeom>
          <a:solidFill>
            <a:schemeClr val="tx2"/>
          </a:solidFill>
          <a:ln/>
        </p:spPr>
      </p:sp>
      <p:sp>
        <p:nvSpPr>
          <p:cNvPr id="4" name="Text 2"/>
          <p:cNvSpPr txBox="1"/>
          <p:nvPr/>
        </p:nvSpPr>
        <p:spPr>
          <a:xfrm>
            <a:off x="594360" y="1463040"/>
            <a:ext cx="1554480" cy="914400"/>
          </a:xfrm>
          <a:prstGeom prst="rect">
            <a:avLst/>
          </a:prstGeom>
          <a:noFill/>
          <a:ln/>
        </p:spPr>
        <p:txBody>
          <a:bodyPr wrap="square" lIns="0" tIns="0" rIns="0" bIns="0" rtlCol="0" anchor="ctr"/>
          <a:lstStyle/>
          <a:p>
            <a:pPr marL="0" indent="0">
              <a:buNone/>
            </a:pPr>
            <a:r>
              <a:rPr lang="en-US" sz="1600" b="1" dirty="0" smtClean="0">
                <a:solidFill>
                  <a:schemeClr val="accent1"/>
                </a:solidFill>
              </a:rPr>
              <a:t>(1)</a:t>
            </a:r>
          </a:p>
          <a:p>
            <a:pPr marL="0" indent="0">
              <a:buNone/>
            </a:pPr>
            <a:endParaRPr lang="en-US" sz="1600" b="1" dirty="0" smtClean="0">
              <a:solidFill>
                <a:schemeClr val="accent1"/>
              </a:solidFill>
            </a:endParaRPr>
          </a:p>
          <a:p>
            <a:pPr marL="0" indent="0">
              <a:buNone/>
            </a:pPr>
            <a:endParaRPr lang="en-US" sz="1400" dirty="0"/>
          </a:p>
          <a:p>
            <a:pPr marL="0" indent="0">
              <a:buNone/>
            </a:pPr>
            <a:r>
              <a:rPr lang="en-US" sz="1400" b="1" dirty="0">
                <a:solidFill>
                  <a:schemeClr val="bg1"/>
                </a:solidFill>
              </a:rPr>
              <a:t>Init &amp; draw screen</a:t>
            </a:r>
            <a:endParaRPr lang="en-US" sz="1400" dirty="0"/>
          </a:p>
        </p:txBody>
      </p:sp>
      <p:sp>
        <p:nvSpPr>
          <p:cNvPr id="5" name="Shape 3"/>
          <p:cNvSpPr/>
          <p:nvPr/>
        </p:nvSpPr>
        <p:spPr>
          <a:xfrm>
            <a:off x="2286000" y="1920240"/>
            <a:ext cx="301752" cy="0"/>
          </a:xfrm>
          <a:prstGeom prst="line">
            <a:avLst/>
          </a:prstGeom>
          <a:noFill/>
          <a:ln w="25400">
            <a:solidFill>
              <a:schemeClr val="accent2"/>
            </a:solidFill>
            <a:prstDash val="solid"/>
            <a:tailEnd type="triangle"/>
          </a:ln>
        </p:spPr>
      </p:sp>
      <p:sp>
        <p:nvSpPr>
          <p:cNvPr id="6" name="Flow box 2"/>
          <p:cNvSpPr/>
          <p:nvPr/>
        </p:nvSpPr>
        <p:spPr>
          <a:xfrm>
            <a:off x="2587752" y="1371600"/>
            <a:ext cx="1828800" cy="1097280"/>
          </a:xfrm>
          <a:prstGeom prst="roundRect">
            <a:avLst>
              <a:gd name="adj" fmla="val 10000"/>
            </a:avLst>
          </a:prstGeom>
          <a:solidFill>
            <a:schemeClr val="tx2"/>
          </a:solidFill>
          <a:ln/>
        </p:spPr>
      </p:sp>
      <p:sp>
        <p:nvSpPr>
          <p:cNvPr id="7" name="Text 5"/>
          <p:cNvSpPr txBox="1"/>
          <p:nvPr/>
        </p:nvSpPr>
        <p:spPr>
          <a:xfrm>
            <a:off x="2724912" y="1463040"/>
            <a:ext cx="1554480" cy="914400"/>
          </a:xfrm>
          <a:prstGeom prst="rect">
            <a:avLst/>
          </a:prstGeom>
          <a:noFill/>
          <a:ln/>
        </p:spPr>
        <p:txBody>
          <a:bodyPr wrap="square" lIns="0" tIns="0" rIns="0" bIns="0" rtlCol="0" anchor="ctr"/>
          <a:lstStyle/>
          <a:p>
            <a:pPr marL="0" indent="0">
              <a:buNone/>
            </a:pPr>
            <a:r>
              <a:rPr lang="en-US" sz="1600" b="1" dirty="0" smtClean="0">
                <a:solidFill>
                  <a:schemeClr val="accent1"/>
                </a:solidFill>
              </a:rPr>
              <a:t>(2)</a:t>
            </a:r>
          </a:p>
          <a:p>
            <a:pPr marL="0" indent="0">
              <a:buNone/>
            </a:pPr>
            <a:endParaRPr lang="en-US" sz="1400" dirty="0"/>
          </a:p>
          <a:p>
            <a:pPr marL="0" indent="0">
              <a:buNone/>
            </a:pPr>
            <a:r>
              <a:rPr lang="en-US" sz="1400" b="1" dirty="0">
                <a:solidFill>
                  <a:schemeClr val="bg1"/>
                </a:solidFill>
              </a:rPr>
              <a:t>Wait for key</a:t>
            </a:r>
            <a:endParaRPr lang="en-US" sz="1400" dirty="0"/>
          </a:p>
          <a:p>
            <a:pPr marL="0" indent="0">
              <a:buNone/>
            </a:pPr>
            <a:r>
              <a:rPr lang="en-US" sz="1200" dirty="0">
                <a:solidFill>
                  <a:schemeClr val="bg2"/>
                </a:solidFill>
              </a:rPr>
              <a:t>Arrows move the cursor</a:t>
            </a:r>
            <a:endParaRPr lang="en-US" sz="1400" dirty="0"/>
          </a:p>
        </p:txBody>
      </p:sp>
      <p:sp>
        <p:nvSpPr>
          <p:cNvPr id="8" name="Shape 6"/>
          <p:cNvSpPr/>
          <p:nvPr/>
        </p:nvSpPr>
        <p:spPr>
          <a:xfrm>
            <a:off x="4416552" y="1920240"/>
            <a:ext cx="301752" cy="0"/>
          </a:xfrm>
          <a:prstGeom prst="line">
            <a:avLst/>
          </a:prstGeom>
          <a:noFill/>
          <a:ln w="25400">
            <a:solidFill>
              <a:schemeClr val="accent2"/>
            </a:solidFill>
            <a:prstDash val="solid"/>
            <a:tailEnd type="triangle"/>
          </a:ln>
        </p:spPr>
      </p:sp>
      <p:sp>
        <p:nvSpPr>
          <p:cNvPr id="9" name="Flow box 3"/>
          <p:cNvSpPr/>
          <p:nvPr/>
        </p:nvSpPr>
        <p:spPr>
          <a:xfrm>
            <a:off x="4718304" y="1371600"/>
            <a:ext cx="1828800" cy="1097280"/>
          </a:xfrm>
          <a:prstGeom prst="roundRect">
            <a:avLst>
              <a:gd name="adj" fmla="val 10000"/>
            </a:avLst>
          </a:prstGeom>
          <a:solidFill>
            <a:schemeClr val="tx2"/>
          </a:solidFill>
          <a:ln/>
        </p:spPr>
      </p:sp>
      <p:sp>
        <p:nvSpPr>
          <p:cNvPr id="10" name="Text 8"/>
          <p:cNvSpPr txBox="1"/>
          <p:nvPr/>
        </p:nvSpPr>
        <p:spPr>
          <a:xfrm>
            <a:off x="4855464" y="1463040"/>
            <a:ext cx="1554480" cy="914400"/>
          </a:xfrm>
          <a:prstGeom prst="rect">
            <a:avLst/>
          </a:prstGeom>
          <a:noFill/>
          <a:ln/>
        </p:spPr>
        <p:txBody>
          <a:bodyPr wrap="square" lIns="0" tIns="0" rIns="0" bIns="0" rtlCol="0" anchor="ctr"/>
          <a:lstStyle/>
          <a:p>
            <a:pPr marL="0" indent="0">
              <a:buNone/>
            </a:pPr>
            <a:r>
              <a:rPr lang="en-US" sz="1600" b="1" dirty="0" smtClean="0">
                <a:solidFill>
                  <a:schemeClr val="accent1"/>
                </a:solidFill>
              </a:rPr>
              <a:t>(3)</a:t>
            </a:r>
          </a:p>
          <a:p>
            <a:pPr marL="0" indent="0">
              <a:buNone/>
            </a:pPr>
            <a:endParaRPr lang="en-US" sz="1600" b="1" dirty="0">
              <a:solidFill>
                <a:schemeClr val="accent1"/>
              </a:solidFill>
            </a:endParaRPr>
          </a:p>
          <a:p>
            <a:pPr marL="0" indent="0">
              <a:buNone/>
            </a:pPr>
            <a:endParaRPr lang="en-US" sz="1400" dirty="0"/>
          </a:p>
          <a:p>
            <a:pPr marL="0" indent="0">
              <a:buNone/>
            </a:pPr>
            <a:r>
              <a:rPr lang="en-US" sz="1400" b="1" dirty="0">
                <a:solidFill>
                  <a:schemeClr val="bg1"/>
                </a:solidFill>
              </a:rPr>
              <a:t>ENTER: flip 1st card</a:t>
            </a:r>
            <a:endParaRPr lang="en-US" sz="1400" dirty="0"/>
          </a:p>
        </p:txBody>
      </p:sp>
      <p:sp>
        <p:nvSpPr>
          <p:cNvPr id="11" name="Shape 9"/>
          <p:cNvSpPr/>
          <p:nvPr/>
        </p:nvSpPr>
        <p:spPr>
          <a:xfrm>
            <a:off x="6547104" y="1920240"/>
            <a:ext cx="301752" cy="0"/>
          </a:xfrm>
          <a:prstGeom prst="line">
            <a:avLst/>
          </a:prstGeom>
          <a:noFill/>
          <a:ln w="25400">
            <a:solidFill>
              <a:schemeClr val="accent2"/>
            </a:solidFill>
            <a:prstDash val="solid"/>
            <a:tailEnd type="triangle"/>
          </a:ln>
        </p:spPr>
      </p:sp>
      <p:sp>
        <p:nvSpPr>
          <p:cNvPr id="12" name="Flow box 4"/>
          <p:cNvSpPr/>
          <p:nvPr/>
        </p:nvSpPr>
        <p:spPr>
          <a:xfrm>
            <a:off x="6848856" y="1371600"/>
            <a:ext cx="1828800" cy="1097280"/>
          </a:xfrm>
          <a:prstGeom prst="roundRect">
            <a:avLst>
              <a:gd name="adj" fmla="val 10000"/>
            </a:avLst>
          </a:prstGeom>
          <a:solidFill>
            <a:schemeClr val="tx2"/>
          </a:solidFill>
          <a:ln/>
        </p:spPr>
        <p:txBody>
          <a:bodyPr/>
          <a:lstStyle/>
          <a:p>
            <a:r>
              <a:rPr lang="en-US" dirty="0" smtClean="0"/>
              <a:t>(</a:t>
            </a:r>
            <a:endParaRPr lang="en-US" dirty="0"/>
          </a:p>
        </p:txBody>
      </p:sp>
      <p:sp>
        <p:nvSpPr>
          <p:cNvPr id="13" name="Text 11"/>
          <p:cNvSpPr txBox="1"/>
          <p:nvPr/>
        </p:nvSpPr>
        <p:spPr>
          <a:xfrm>
            <a:off x="6986016" y="1463040"/>
            <a:ext cx="1554480" cy="914400"/>
          </a:xfrm>
          <a:prstGeom prst="rect">
            <a:avLst/>
          </a:prstGeom>
          <a:noFill/>
          <a:ln/>
        </p:spPr>
        <p:txBody>
          <a:bodyPr wrap="square" lIns="0" tIns="0" rIns="0" bIns="0" rtlCol="0" anchor="ctr"/>
          <a:lstStyle/>
          <a:p>
            <a:pPr marL="0" indent="0">
              <a:buNone/>
            </a:pPr>
            <a:r>
              <a:rPr lang="en-US" sz="1600" b="1" dirty="0" smtClean="0">
                <a:solidFill>
                  <a:schemeClr val="accent1"/>
                </a:solidFill>
              </a:rPr>
              <a:t>(4)</a:t>
            </a:r>
          </a:p>
          <a:p>
            <a:pPr marL="0" indent="0">
              <a:buNone/>
            </a:pPr>
            <a:endParaRPr lang="en-US" sz="1400" dirty="0"/>
          </a:p>
          <a:p>
            <a:pPr marL="0" indent="0">
              <a:buNone/>
            </a:pPr>
            <a:r>
              <a:rPr lang="en-US" sz="1400" b="1" dirty="0">
                <a:solidFill>
                  <a:schemeClr val="bg1"/>
                </a:solidFill>
              </a:rPr>
              <a:t>ENTER: flip 2nd card</a:t>
            </a:r>
            <a:endParaRPr lang="en-US" sz="1400" dirty="0"/>
          </a:p>
          <a:p>
            <a:pPr marL="0" indent="0">
              <a:buNone/>
            </a:pPr>
            <a:r>
              <a:rPr lang="en-US" sz="1200" dirty="0">
                <a:solidFill>
                  <a:schemeClr val="bg2"/>
                </a:solidFill>
              </a:rPr>
              <a:t>Attempts + 1</a:t>
            </a:r>
            <a:endParaRPr lang="en-US" sz="1400" dirty="0"/>
          </a:p>
        </p:txBody>
      </p:sp>
      <p:sp>
        <p:nvSpPr>
          <p:cNvPr id="14" name="Shape 12"/>
          <p:cNvSpPr/>
          <p:nvPr/>
        </p:nvSpPr>
        <p:spPr>
          <a:xfrm>
            <a:off x="7763256" y="2468880"/>
            <a:ext cx="0" cy="594360"/>
          </a:xfrm>
          <a:prstGeom prst="line">
            <a:avLst/>
          </a:prstGeom>
          <a:noFill/>
          <a:ln w="25400">
            <a:solidFill>
              <a:schemeClr val="accent2"/>
            </a:solidFill>
            <a:prstDash val="solid"/>
            <a:tailEnd type="triangle"/>
          </a:ln>
        </p:spPr>
      </p:sp>
      <p:sp>
        <p:nvSpPr>
          <p:cNvPr id="15" name="Flow box 5"/>
          <p:cNvSpPr/>
          <p:nvPr/>
        </p:nvSpPr>
        <p:spPr>
          <a:xfrm>
            <a:off x="6848856" y="3063240"/>
            <a:ext cx="1828800" cy="1371600"/>
          </a:xfrm>
          <a:prstGeom prst="roundRect">
            <a:avLst>
              <a:gd name="adj" fmla="val 8000"/>
            </a:avLst>
          </a:prstGeom>
          <a:solidFill>
            <a:schemeClr val="tx2"/>
          </a:solidFill>
          <a:ln/>
        </p:spPr>
      </p:sp>
      <p:sp>
        <p:nvSpPr>
          <p:cNvPr id="16" name="Text 14"/>
          <p:cNvSpPr txBox="1"/>
          <p:nvPr/>
        </p:nvSpPr>
        <p:spPr>
          <a:xfrm>
            <a:off x="6986016" y="3154680"/>
            <a:ext cx="1554480" cy="1188720"/>
          </a:xfrm>
          <a:prstGeom prst="rect">
            <a:avLst/>
          </a:prstGeom>
          <a:noFill/>
          <a:ln/>
        </p:spPr>
        <p:txBody>
          <a:bodyPr wrap="square" lIns="0" tIns="0" rIns="0" bIns="0" rtlCol="0" anchor="ctr"/>
          <a:lstStyle/>
          <a:p>
            <a:pPr marL="0" indent="0">
              <a:buNone/>
            </a:pPr>
            <a:r>
              <a:rPr lang="en-US" sz="1600" b="1" dirty="0" smtClean="0">
                <a:solidFill>
                  <a:schemeClr val="accent1"/>
                </a:solidFill>
              </a:rPr>
              <a:t>(5)</a:t>
            </a:r>
          </a:p>
          <a:p>
            <a:pPr marL="0" indent="0">
              <a:buNone/>
            </a:pPr>
            <a:endParaRPr lang="en-US" sz="1600" b="1" dirty="0" smtClean="0">
              <a:solidFill>
                <a:schemeClr val="accent1"/>
              </a:solidFill>
            </a:endParaRPr>
          </a:p>
          <a:p>
            <a:pPr marL="0" indent="0">
              <a:buNone/>
            </a:pPr>
            <a:endParaRPr lang="en-US" sz="1600" b="1" dirty="0" smtClean="0">
              <a:solidFill>
                <a:schemeClr val="accent1"/>
              </a:solidFill>
            </a:endParaRPr>
          </a:p>
          <a:p>
            <a:pPr marL="0" indent="0">
              <a:buNone/>
            </a:pPr>
            <a:endParaRPr lang="en-US" sz="1600" b="1" dirty="0">
              <a:solidFill>
                <a:schemeClr val="accent1"/>
              </a:solidFill>
            </a:endParaRPr>
          </a:p>
          <a:p>
            <a:pPr marL="0" indent="0">
              <a:buNone/>
            </a:pPr>
            <a:r>
              <a:rPr lang="en-US" sz="1400" b="1" dirty="0" smtClean="0">
                <a:solidFill>
                  <a:schemeClr val="bg1"/>
                </a:solidFill>
              </a:rPr>
              <a:t>Compare </a:t>
            </a:r>
            <a:r>
              <a:rPr lang="en-US" sz="1400" b="1" dirty="0">
                <a:solidFill>
                  <a:schemeClr val="bg1"/>
                </a:solidFill>
              </a:rPr>
              <a:t>both cards</a:t>
            </a:r>
            <a:endParaRPr lang="en-US" sz="1400" dirty="0"/>
          </a:p>
        </p:txBody>
      </p:sp>
      <p:sp>
        <p:nvSpPr>
          <p:cNvPr id="17" name="Flow box 6"/>
          <p:cNvSpPr/>
          <p:nvPr/>
        </p:nvSpPr>
        <p:spPr>
          <a:xfrm>
            <a:off x="4718304" y="3063240"/>
            <a:ext cx="1828800" cy="1371600"/>
          </a:xfrm>
          <a:prstGeom prst="roundRect">
            <a:avLst>
              <a:gd name="adj" fmla="val 8000"/>
            </a:avLst>
          </a:prstGeom>
          <a:solidFill>
            <a:schemeClr val="tx2"/>
          </a:solidFill>
          <a:ln/>
        </p:spPr>
      </p:sp>
      <p:sp>
        <p:nvSpPr>
          <p:cNvPr id="18" name="Text 16"/>
          <p:cNvSpPr txBox="1"/>
          <p:nvPr/>
        </p:nvSpPr>
        <p:spPr>
          <a:xfrm>
            <a:off x="4855464" y="3154680"/>
            <a:ext cx="1554480" cy="1188720"/>
          </a:xfrm>
          <a:prstGeom prst="rect">
            <a:avLst/>
          </a:prstGeom>
          <a:noFill/>
          <a:ln/>
        </p:spPr>
        <p:txBody>
          <a:bodyPr wrap="square" lIns="0" tIns="0" rIns="0" bIns="0" rtlCol="0" anchor="ctr"/>
          <a:lstStyle/>
          <a:p>
            <a:pPr marL="0" indent="0">
              <a:buNone/>
            </a:pPr>
            <a:r>
              <a:rPr lang="en-US" sz="1600" b="1" dirty="0" smtClean="0">
                <a:solidFill>
                  <a:schemeClr val="accent1"/>
                </a:solidFill>
              </a:rPr>
              <a:t>(6)</a:t>
            </a:r>
            <a:endParaRPr lang="en-US" sz="1400" dirty="0" smtClean="0">
              <a:solidFill>
                <a:schemeClr val="accent1"/>
              </a:solidFill>
            </a:endParaRPr>
          </a:p>
          <a:p>
            <a:pPr marL="0" indent="0">
              <a:buNone/>
            </a:pPr>
            <a:endParaRPr lang="en-US" sz="1400" dirty="0">
              <a:solidFill>
                <a:schemeClr val="accent1"/>
              </a:solidFill>
            </a:endParaRPr>
          </a:p>
          <a:p>
            <a:pPr marL="0" indent="0">
              <a:buNone/>
            </a:pPr>
            <a:r>
              <a:rPr lang="en-US" sz="1400" b="1" dirty="0">
                <a:solidFill>
                  <a:schemeClr val="accent5"/>
                </a:solidFill>
              </a:rPr>
              <a:t>Match: </a:t>
            </a:r>
            <a:r>
              <a:rPr lang="en-US" sz="1400" dirty="0">
                <a:solidFill>
                  <a:schemeClr val="bg1"/>
                </a:solidFill>
              </a:rPr>
              <a:t>stays open, pairs + 1</a:t>
            </a:r>
            <a:endParaRPr lang="en-US" sz="1400" dirty="0"/>
          </a:p>
          <a:p>
            <a:pPr marL="0" indent="0">
              <a:buNone/>
            </a:pPr>
            <a:r>
              <a:rPr lang="en-US" sz="1400" b="1" dirty="0">
                <a:solidFill>
                  <a:schemeClr val="accent6"/>
                </a:solidFill>
              </a:rPr>
              <a:t>No match: </a:t>
            </a:r>
            <a:r>
              <a:rPr lang="en-US" sz="1400" dirty="0">
                <a:solidFill>
                  <a:schemeClr val="bg1"/>
                </a:solidFill>
              </a:rPr>
              <a:t>flips back</a:t>
            </a:r>
            <a:endParaRPr lang="en-US" sz="1400" dirty="0"/>
          </a:p>
        </p:txBody>
      </p:sp>
      <p:sp>
        <p:nvSpPr>
          <p:cNvPr id="19" name="Flow box 7"/>
          <p:cNvSpPr/>
          <p:nvPr/>
        </p:nvSpPr>
        <p:spPr>
          <a:xfrm>
            <a:off x="2587752" y="3063240"/>
            <a:ext cx="1828800" cy="1371600"/>
          </a:xfrm>
          <a:prstGeom prst="roundRect">
            <a:avLst>
              <a:gd name="adj" fmla="val 8000"/>
            </a:avLst>
          </a:prstGeom>
          <a:solidFill>
            <a:schemeClr val="tx2"/>
          </a:solidFill>
          <a:ln/>
        </p:spPr>
      </p:sp>
      <p:sp>
        <p:nvSpPr>
          <p:cNvPr id="20" name="Text 18"/>
          <p:cNvSpPr txBox="1"/>
          <p:nvPr/>
        </p:nvSpPr>
        <p:spPr>
          <a:xfrm>
            <a:off x="2724912" y="3154680"/>
            <a:ext cx="1554480" cy="1188720"/>
          </a:xfrm>
          <a:prstGeom prst="rect">
            <a:avLst/>
          </a:prstGeom>
          <a:noFill/>
          <a:ln/>
        </p:spPr>
        <p:txBody>
          <a:bodyPr wrap="square" lIns="0" tIns="0" rIns="0" bIns="0" rtlCol="0" anchor="ctr"/>
          <a:lstStyle/>
          <a:p>
            <a:pPr marL="0" indent="0">
              <a:buNone/>
            </a:pPr>
            <a:r>
              <a:rPr lang="en-US" sz="1600" b="1" dirty="0" smtClean="0">
                <a:solidFill>
                  <a:schemeClr val="accent1"/>
                </a:solidFill>
              </a:rPr>
              <a:t>(7)</a:t>
            </a:r>
          </a:p>
          <a:p>
            <a:pPr marL="0" indent="0">
              <a:buNone/>
            </a:pPr>
            <a:endParaRPr lang="en-US" sz="1400" dirty="0">
              <a:solidFill>
                <a:schemeClr val="accent1"/>
              </a:solidFill>
            </a:endParaRPr>
          </a:p>
          <a:p>
            <a:pPr marL="0" indent="0">
              <a:buNone/>
            </a:pPr>
            <a:r>
              <a:rPr lang="en-US" sz="1400" b="1" dirty="0">
                <a:solidFill>
                  <a:schemeClr val="accent5"/>
                </a:solidFill>
              </a:rPr>
              <a:t>8 pairs: </a:t>
            </a:r>
            <a:r>
              <a:rPr lang="en-US" sz="1400" dirty="0">
                <a:solidFill>
                  <a:schemeClr val="bg1"/>
                </a:solidFill>
              </a:rPr>
              <a:t>Win</a:t>
            </a:r>
            <a:endParaRPr lang="en-US" sz="1400" dirty="0"/>
          </a:p>
          <a:p>
            <a:pPr marL="0" indent="0">
              <a:buNone/>
            </a:pPr>
            <a:r>
              <a:rPr lang="en-US" sz="1400" b="1" dirty="0">
                <a:solidFill>
                  <a:schemeClr val="accent6"/>
                </a:solidFill>
              </a:rPr>
              <a:t>12 attempts: </a:t>
            </a:r>
            <a:r>
              <a:rPr lang="en-US" sz="1400" dirty="0">
                <a:solidFill>
                  <a:schemeClr val="bg1"/>
                </a:solidFill>
              </a:rPr>
              <a:t>Game over</a:t>
            </a:r>
            <a:endParaRPr lang="en-US" sz="1400" dirty="0"/>
          </a:p>
        </p:txBody>
      </p:sp>
      <p:sp>
        <p:nvSpPr>
          <p:cNvPr id="21" name="Flow box loop"/>
          <p:cNvSpPr/>
          <p:nvPr/>
        </p:nvSpPr>
        <p:spPr>
          <a:xfrm>
            <a:off x="457200" y="3063240"/>
            <a:ext cx="1828800" cy="1371600"/>
          </a:xfrm>
          <a:prstGeom prst="roundRect">
            <a:avLst>
              <a:gd name="adj" fmla="val 8000"/>
            </a:avLst>
          </a:prstGeom>
          <a:solidFill>
            <a:schemeClr val="tx2"/>
          </a:solidFill>
          <a:ln/>
        </p:spPr>
      </p:sp>
      <p:sp>
        <p:nvSpPr>
          <p:cNvPr id="22" name="Text 20"/>
          <p:cNvSpPr txBox="1"/>
          <p:nvPr/>
        </p:nvSpPr>
        <p:spPr>
          <a:xfrm>
            <a:off x="594360" y="3154680"/>
            <a:ext cx="1554480" cy="1188720"/>
          </a:xfrm>
          <a:prstGeom prst="rect">
            <a:avLst/>
          </a:prstGeom>
          <a:noFill/>
          <a:ln/>
        </p:spPr>
        <p:txBody>
          <a:bodyPr wrap="square" lIns="0" tIns="0" rIns="0" bIns="0" rtlCol="0" anchor="ctr"/>
          <a:lstStyle/>
          <a:p>
            <a:pPr marL="0" indent="0">
              <a:buNone/>
            </a:pPr>
            <a:r>
              <a:rPr lang="en-US" sz="1400" b="1" dirty="0">
                <a:solidFill>
                  <a:schemeClr val="bg1"/>
                </a:solidFill>
              </a:rPr>
              <a:t>Otherwise</a:t>
            </a:r>
            <a:endParaRPr lang="en-US" sz="1400" dirty="0"/>
          </a:p>
          <a:p>
            <a:pPr marL="0" indent="0">
              <a:buNone/>
            </a:pPr>
            <a:r>
              <a:rPr lang="en-US" sz="1400" dirty="0">
                <a:solidFill>
                  <a:schemeClr val="accent1"/>
                </a:solidFill>
              </a:rPr>
              <a:t>back to step 2</a:t>
            </a:r>
            <a:endParaRPr lang="en-US" sz="1400" dirty="0"/>
          </a:p>
        </p:txBody>
      </p:sp>
      <p:sp>
        <p:nvSpPr>
          <p:cNvPr id="23" name="Shape 21"/>
          <p:cNvSpPr/>
          <p:nvPr/>
        </p:nvSpPr>
        <p:spPr>
          <a:xfrm flipH="1">
            <a:off x="6547104" y="3749040"/>
            <a:ext cx="301752" cy="0"/>
          </a:xfrm>
          <a:prstGeom prst="line">
            <a:avLst/>
          </a:prstGeom>
          <a:noFill/>
          <a:ln w="25400">
            <a:solidFill>
              <a:schemeClr val="accent2"/>
            </a:solidFill>
            <a:prstDash val="solid"/>
            <a:tailEnd type="triangle"/>
          </a:ln>
        </p:spPr>
      </p:sp>
      <p:sp>
        <p:nvSpPr>
          <p:cNvPr id="24" name="Shape 22"/>
          <p:cNvSpPr/>
          <p:nvPr/>
        </p:nvSpPr>
        <p:spPr>
          <a:xfrm flipH="1">
            <a:off x="4416552" y="3749040"/>
            <a:ext cx="301752" cy="0"/>
          </a:xfrm>
          <a:prstGeom prst="line">
            <a:avLst/>
          </a:prstGeom>
          <a:noFill/>
          <a:ln w="25400">
            <a:solidFill>
              <a:schemeClr val="accent2"/>
            </a:solidFill>
            <a:prstDash val="solid"/>
            <a:tailEnd type="triangle"/>
          </a:ln>
        </p:spPr>
      </p:sp>
      <p:sp>
        <p:nvSpPr>
          <p:cNvPr id="25" name="Shape 23"/>
          <p:cNvSpPr/>
          <p:nvPr/>
        </p:nvSpPr>
        <p:spPr>
          <a:xfrm flipH="1">
            <a:off x="2286000" y="3749040"/>
            <a:ext cx="301752" cy="0"/>
          </a:xfrm>
          <a:prstGeom prst="line">
            <a:avLst/>
          </a:prstGeom>
          <a:noFill/>
          <a:ln w="25400">
            <a:solidFill>
              <a:schemeClr val="accent2"/>
            </a:solidFill>
            <a:prstDash val="solid"/>
            <a:tailEnd type="triangle"/>
          </a:ln>
        </p:spPr>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Challenges &amp; Conclusion</a:t>
            </a:r>
            <a:endParaRPr lang="en-US" sz="3600" dirty="0"/>
          </a:p>
        </p:txBody>
      </p:sp>
      <p:sp>
        <p:nvSpPr>
          <p:cNvPr id="3" name="Challenges card"/>
          <p:cNvSpPr/>
          <p:nvPr/>
        </p:nvSpPr>
        <p:spPr>
          <a:xfrm>
            <a:off x="457200" y="1424539"/>
            <a:ext cx="3977640" cy="2574950"/>
          </a:xfrm>
          <a:prstGeom prst="roundRect">
            <a:avLst>
              <a:gd name="adj" fmla="val 3429"/>
            </a:avLst>
          </a:prstGeom>
          <a:solidFill>
            <a:schemeClr val="tx2"/>
          </a:solidFill>
          <a:ln/>
        </p:spPr>
      </p:sp>
      <p:sp>
        <p:nvSpPr>
          <p:cNvPr id="4" name="Text 2"/>
          <p:cNvSpPr txBox="1"/>
          <p:nvPr/>
        </p:nvSpPr>
        <p:spPr>
          <a:xfrm>
            <a:off x="685800" y="1561699"/>
            <a:ext cx="3520440" cy="365760"/>
          </a:xfrm>
          <a:prstGeom prst="rect">
            <a:avLst/>
          </a:prstGeom>
          <a:noFill/>
          <a:ln/>
        </p:spPr>
        <p:txBody>
          <a:bodyPr wrap="square" lIns="0" tIns="0" rIns="0" bIns="0" rtlCol="0" anchor="t"/>
          <a:lstStyle/>
          <a:p>
            <a:pPr marL="0" indent="0">
              <a:buNone/>
            </a:pPr>
            <a:r>
              <a:rPr lang="en-US" sz="1800" b="1" dirty="0">
                <a:solidFill>
                  <a:schemeClr val="accent2"/>
                </a:solidFill>
              </a:rPr>
              <a:t>Challenges</a:t>
            </a:r>
            <a:endParaRPr lang="en-US" sz="1800" dirty="0"/>
          </a:p>
        </p:txBody>
      </p:sp>
      <p:sp>
        <p:nvSpPr>
          <p:cNvPr id="5" name="Text 3"/>
          <p:cNvSpPr txBox="1"/>
          <p:nvPr/>
        </p:nvSpPr>
        <p:spPr>
          <a:xfrm>
            <a:off x="685800" y="2018899"/>
            <a:ext cx="3520440" cy="23774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bg1"/>
                </a:solidFill>
              </a:rPr>
              <a:t>Screen flicker: redraw only what changes</a:t>
            </a:r>
            <a:endParaRPr lang="en-US" sz="1800" dirty="0"/>
          </a:p>
          <a:p>
            <a:pPr marL="342900" indent="-342900">
              <a:spcAft>
                <a:spcPts val="600"/>
              </a:spcAft>
              <a:buSzPct val="100000"/>
              <a:buChar char="•"/>
            </a:pPr>
            <a:r>
              <a:rPr lang="en-US" sz="1800" dirty="0">
                <a:solidFill>
                  <a:schemeClr val="bg1"/>
                </a:solidFill>
              </a:rPr>
              <a:t>Cursor tracking: restore position after updates</a:t>
            </a:r>
            <a:endParaRPr lang="en-US" sz="1800" dirty="0"/>
          </a:p>
          <a:p>
            <a:pPr marL="342900" indent="-342900">
              <a:spcAft>
                <a:spcPts val="600"/>
              </a:spcAft>
              <a:buSzPct val="100000"/>
              <a:buChar char="•"/>
            </a:pPr>
            <a:r>
              <a:rPr lang="en-US" sz="1800" dirty="0">
                <a:solidFill>
                  <a:schemeClr val="bg1"/>
                </a:solidFill>
              </a:rPr>
              <a:t>Short delay so both cards can be seen</a:t>
            </a:r>
            <a:endParaRPr lang="en-US" sz="1800" dirty="0"/>
          </a:p>
        </p:txBody>
      </p:sp>
      <p:sp>
        <p:nvSpPr>
          <p:cNvPr id="6" name="Conclusion card"/>
          <p:cNvSpPr/>
          <p:nvPr/>
        </p:nvSpPr>
        <p:spPr>
          <a:xfrm>
            <a:off x="4709160" y="1424539"/>
            <a:ext cx="3977640" cy="2574950"/>
          </a:xfrm>
          <a:prstGeom prst="roundRect">
            <a:avLst>
              <a:gd name="adj" fmla="val 3429"/>
            </a:avLst>
          </a:prstGeom>
          <a:solidFill>
            <a:schemeClr val="tx2"/>
          </a:solidFill>
          <a:ln/>
        </p:spPr>
      </p:sp>
      <p:sp>
        <p:nvSpPr>
          <p:cNvPr id="7" name="Text 5"/>
          <p:cNvSpPr txBox="1"/>
          <p:nvPr/>
        </p:nvSpPr>
        <p:spPr>
          <a:xfrm>
            <a:off x="4937760" y="1561699"/>
            <a:ext cx="3520440" cy="365760"/>
          </a:xfrm>
          <a:prstGeom prst="rect">
            <a:avLst/>
          </a:prstGeom>
          <a:noFill/>
          <a:ln/>
        </p:spPr>
        <p:txBody>
          <a:bodyPr wrap="square" lIns="0" tIns="0" rIns="0" bIns="0" rtlCol="0" anchor="t"/>
          <a:lstStyle/>
          <a:p>
            <a:pPr marL="0" indent="0">
              <a:buNone/>
            </a:pPr>
            <a:r>
              <a:rPr lang="en-US" sz="1800" b="1" dirty="0">
                <a:solidFill>
                  <a:schemeClr val="accent1"/>
                </a:solidFill>
              </a:rPr>
              <a:t>Conclusion</a:t>
            </a:r>
            <a:endParaRPr lang="en-US" sz="1800" dirty="0"/>
          </a:p>
        </p:txBody>
      </p:sp>
      <p:sp>
        <p:nvSpPr>
          <p:cNvPr id="8" name="Text 6"/>
          <p:cNvSpPr txBox="1"/>
          <p:nvPr/>
        </p:nvSpPr>
        <p:spPr>
          <a:xfrm>
            <a:off x="4937760" y="2018899"/>
            <a:ext cx="3520440" cy="23774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bg1"/>
                </a:solidFill>
              </a:rPr>
              <a:t>A fully playable game in pure assembly</a:t>
            </a:r>
            <a:endParaRPr lang="en-US" sz="1800" dirty="0"/>
          </a:p>
          <a:p>
            <a:pPr marL="342900" indent="-342900">
              <a:spcAft>
                <a:spcPts val="600"/>
              </a:spcAft>
              <a:buSzPct val="100000"/>
              <a:buChar char="•"/>
            </a:pPr>
            <a:r>
              <a:rPr lang="en-US" sz="1800" dirty="0">
                <a:solidFill>
                  <a:schemeClr val="bg1"/>
                </a:solidFill>
              </a:rPr>
              <a:t>Practised arrays, interrupts and procedures</a:t>
            </a:r>
            <a:endParaRPr lang="en-US" sz="1800" dirty="0"/>
          </a:p>
          <a:p>
            <a:pPr marL="342900" indent="-342900">
              <a:spcAft>
                <a:spcPts val="600"/>
              </a:spcAft>
              <a:buSzPct val="100000"/>
              <a:buChar char="•"/>
            </a:pPr>
            <a:r>
              <a:rPr lang="en-US" sz="1800" dirty="0">
                <a:solidFill>
                  <a:schemeClr val="bg1"/>
                </a:solidFill>
              </a:rPr>
              <a:t>Next: random shuffle and a timer</a:t>
            </a:r>
            <a:endParaRPr lang="en-US" sz="1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82650"/>
            <a:ext cx="4846320" cy="1660550"/>
          </a:xfrm>
          <a:prstGeom prst="rect">
            <a:avLst/>
          </a:prstGeom>
          <a:noFill/>
          <a:ln/>
        </p:spPr>
        <p:txBody>
          <a:bodyPr wrap="square" lIns="0" tIns="0" rIns="0" bIns="0" rtlCol="0" anchor="b"/>
          <a:lstStyle/>
          <a:p>
            <a:pPr marL="0" indent="0" algn="l">
              <a:buNone/>
            </a:pPr>
            <a:r>
              <a:rPr lang="en-US" sz="4400" b="1" dirty="0">
                <a:solidFill>
                  <a:schemeClr val="bg1"/>
                </a:solidFill>
              </a:rPr>
              <a:t>Thank You</a:t>
            </a:r>
            <a:endParaRPr lang="en-US" sz="4400" dirty="0"/>
          </a:p>
        </p:txBody>
      </p:sp>
      <p:sp>
        <p:nvSpPr>
          <p:cNvPr id="3" name="Text 0"/>
          <p:cNvSpPr>
            <a:spLocks noGrp="1"/>
          </p:cNvSpPr>
          <p:nvPr>
            <p:ph type="body" idx="101" hasCustomPrompt="1"/>
          </p:nvPr>
        </p:nvSpPr>
        <p:spPr>
          <a:xfrm>
            <a:off x="548640" y="2926080"/>
            <a:ext cx="4846320" cy="731520"/>
          </a:xfrm>
          <a:prstGeom prst="rect">
            <a:avLst/>
          </a:prstGeom>
          <a:noFill/>
          <a:ln/>
        </p:spPr>
        <p:txBody>
          <a:bodyPr wrap="square" lIns="0" tIns="0" rIns="0" bIns="0" rtlCol="0" anchor="t"/>
          <a:lstStyle/>
          <a:p>
            <a:pPr marL="0" indent="0" algn="l">
              <a:buNone/>
            </a:pPr>
            <a:r>
              <a:rPr lang="en-US" sz="1800" dirty="0">
                <a:solidFill>
                  <a:schemeClr val="accent1"/>
                </a:solidFill>
              </a:rPr>
              <a:t>All 8 pairs found. Game complete!</a:t>
            </a:r>
            <a:endParaRPr lang="en-US" sz="1800" dirty="0"/>
          </a:p>
        </p:txBody>
      </p:sp>
      <p:sp>
        <p:nvSpPr>
          <p:cNvPr id="4" name="Text 2"/>
          <p:cNvSpPr txBox="1"/>
          <p:nvPr/>
        </p:nvSpPr>
        <p:spPr>
          <a:xfrm>
            <a:off x="548640" y="4114800"/>
            <a:ext cx="4846320" cy="365760"/>
          </a:xfrm>
          <a:prstGeom prst="rect">
            <a:avLst/>
          </a:prstGeom>
          <a:noFill/>
          <a:ln/>
        </p:spPr>
        <p:txBody>
          <a:bodyPr wrap="square" lIns="0" tIns="0" rIns="0" bIns="0" rtlCol="0" anchor="t"/>
          <a:lstStyle/>
          <a:p>
            <a:pPr marL="0" indent="0">
              <a:buNone/>
            </a:pPr>
            <a:r>
              <a:rPr lang="en-US" sz="1400" dirty="0">
                <a:solidFill>
                  <a:schemeClr val="bg2"/>
                </a:solidFill>
              </a:rPr>
              <a:t>Card Matching Game  |  COAL Project</a:t>
            </a:r>
            <a:endParaRPr lang="en-US" sz="1400" dirty="0"/>
          </a:p>
        </p:txBody>
      </p:sp>
      <p:sp>
        <p:nvSpPr>
          <p:cNvPr id="5" name="Matched tile 1"/>
          <p:cNvSpPr txBox="1"/>
          <p:nvPr/>
        </p:nvSpPr>
        <p:spPr>
          <a:xfrm>
            <a:off x="5852160" y="1188720"/>
            <a:ext cx="1280160" cy="1280160"/>
          </a:xfrm>
          <a:prstGeom prst="roundRect">
            <a:avLst>
              <a:gd name="adj" fmla="val 10714"/>
            </a:avLst>
          </a:prstGeom>
          <a:solidFill>
            <a:schemeClr val="accent1"/>
          </a:solidFill>
          <a:ln/>
        </p:spPr>
        <p:txBody>
          <a:bodyPr wrap="square" rtlCol="0" anchor="ctr"/>
          <a:lstStyle/>
          <a:p>
            <a:pPr marL="0" indent="0" algn="ctr">
              <a:buNone/>
            </a:pPr>
            <a:r>
              <a:rPr lang="en-US" sz="4800" b="1" dirty="0">
                <a:solidFill>
                  <a:schemeClr val="tx1"/>
                </a:solidFill>
                <a:latin typeface="Courier New" pitchFamily="34" charset="0"/>
                <a:ea typeface="Courier New" pitchFamily="34" charset="-122"/>
                <a:cs typeface="Courier New" pitchFamily="34" charset="-120"/>
              </a:rPr>
              <a:t>7</a:t>
            </a:r>
            <a:endParaRPr lang="en-US" sz="4800" dirty="0"/>
          </a:p>
        </p:txBody>
      </p:sp>
      <p:sp>
        <p:nvSpPr>
          <p:cNvPr id="6" name="Matched tile 2"/>
          <p:cNvSpPr txBox="1"/>
          <p:nvPr/>
        </p:nvSpPr>
        <p:spPr>
          <a:xfrm>
            <a:off x="7269480" y="2651760"/>
            <a:ext cx="1280160" cy="1280160"/>
          </a:xfrm>
          <a:prstGeom prst="roundRect">
            <a:avLst>
              <a:gd name="adj" fmla="val 10714"/>
            </a:avLst>
          </a:prstGeom>
          <a:solidFill>
            <a:schemeClr val="accent1"/>
          </a:solidFill>
          <a:ln/>
        </p:spPr>
        <p:txBody>
          <a:bodyPr wrap="square" rtlCol="0" anchor="ctr"/>
          <a:lstStyle/>
          <a:p>
            <a:pPr marL="0" indent="0" algn="ctr">
              <a:buNone/>
            </a:pPr>
            <a:r>
              <a:rPr lang="en-US" sz="4800" b="1" dirty="0">
                <a:solidFill>
                  <a:schemeClr val="tx1"/>
                </a:solidFill>
                <a:latin typeface="Courier New" pitchFamily="34" charset="0"/>
                <a:ea typeface="Courier New" pitchFamily="34" charset="-122"/>
                <a:cs typeface="Courier New" pitchFamily="34" charset="-120"/>
              </a:rPr>
              <a:t>7</a:t>
            </a:r>
            <a:endParaRPr lang="en-US" sz="4800" dirty="0"/>
          </a:p>
        </p:txBody>
      </p:sp>
      <p:sp>
        <p:nvSpPr>
          <p:cNvPr id="7" name="Matched tile 3"/>
          <p:cNvSpPr txBox="1"/>
          <p:nvPr/>
        </p:nvSpPr>
        <p:spPr>
          <a:xfrm>
            <a:off x="5852160" y="2651760"/>
            <a:ext cx="1280160" cy="1280160"/>
          </a:xfrm>
          <a:prstGeom prst="roundRect">
            <a:avLst>
              <a:gd name="adj" fmla="val 10714"/>
            </a:avLst>
          </a:prstGeom>
          <a:solidFill>
            <a:schemeClr val="accent2"/>
          </a:solidFill>
          <a:ln/>
        </p:spPr>
        <p:txBody>
          <a:bodyPr wrap="square" rtlCol="0" anchor="ctr"/>
          <a:lstStyle/>
          <a:p>
            <a:pPr marL="0" indent="0" algn="ctr">
              <a:buNone/>
            </a:pPr>
            <a:r>
              <a:rPr lang="en-US" sz="4800" b="1" dirty="0">
                <a:solidFill>
                  <a:schemeClr val="tx1"/>
                </a:solidFill>
                <a:latin typeface="Courier New" pitchFamily="34" charset="0"/>
                <a:ea typeface="Courier New" pitchFamily="34" charset="-122"/>
                <a:cs typeface="Courier New" pitchFamily="34" charset="-120"/>
              </a:rPr>
              <a:t>8</a:t>
            </a:r>
            <a:endParaRPr lang="en-US" sz="4800" dirty="0"/>
          </a:p>
        </p:txBody>
      </p:sp>
      <p:sp>
        <p:nvSpPr>
          <p:cNvPr id="8" name="Matched tile 4"/>
          <p:cNvSpPr txBox="1"/>
          <p:nvPr/>
        </p:nvSpPr>
        <p:spPr>
          <a:xfrm>
            <a:off x="7269480" y="1188720"/>
            <a:ext cx="1280160" cy="1280160"/>
          </a:xfrm>
          <a:prstGeom prst="roundRect">
            <a:avLst>
              <a:gd name="adj" fmla="val 10714"/>
            </a:avLst>
          </a:prstGeom>
          <a:solidFill>
            <a:schemeClr val="accent2"/>
          </a:solidFill>
          <a:ln/>
        </p:spPr>
        <p:txBody>
          <a:bodyPr wrap="square" rtlCol="0" anchor="ctr"/>
          <a:lstStyle/>
          <a:p>
            <a:pPr marL="0" indent="0" algn="ctr">
              <a:buNone/>
            </a:pPr>
            <a:r>
              <a:rPr lang="en-US" sz="4800" b="1" dirty="0">
                <a:solidFill>
                  <a:schemeClr val="tx1"/>
                </a:solidFill>
                <a:latin typeface="Courier New" pitchFamily="34" charset="0"/>
                <a:ea typeface="Courier New" pitchFamily="34" charset="-122"/>
                <a:cs typeface="Courier New" pitchFamily="34" charset="-120"/>
              </a:rPr>
              <a:t>8</a:t>
            </a:r>
            <a:endParaRPr lang="en-US" sz="48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ard Game Dark">
  <a:themeElements>
    <a:clrScheme name="Card Game Dark">
      <a:dk1>
        <a:srgbClr val="0F172A"/>
      </a:dk1>
      <a:lt1>
        <a:srgbClr val="F8FAFC"/>
      </a:lt1>
      <a:dk2>
        <a:srgbClr val="1E293B"/>
      </a:dk2>
      <a:lt2>
        <a:srgbClr val="CBD5E1"/>
      </a:lt2>
      <a:accent1>
        <a:srgbClr val="2DD4BF"/>
      </a:accent1>
      <a:accent2>
        <a:srgbClr val="FBBF24"/>
      </a:accent2>
      <a:accent3>
        <a:srgbClr val="F472B6"/>
      </a:accent3>
      <a:accent4>
        <a:srgbClr val="818CF8"/>
      </a:accent4>
      <a:accent5>
        <a:srgbClr val="34D399"/>
      </a:accent5>
      <a:accent6>
        <a:srgbClr val="F87171"/>
      </a:accent6>
      <a:hlink>
        <a:srgbClr val="2DD4BF"/>
      </a:hlink>
      <a:folHlink>
        <a:srgbClr val="818CF8"/>
      </a:folHlink>
    </a:clrScheme>
    <a:fontScheme name="Card Game Dar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1071</Words>
  <Application>Microsoft Office PowerPoint</Application>
  <PresentationFormat>On-screen Show (16:9)</PresentationFormat>
  <Paragraphs>152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Courier New</vt:lpstr>
      <vt:lpstr>Card Game Dark</vt:lpstr>
      <vt:lpstr>Card Matching Game</vt:lpstr>
      <vt:lpstr>Introduction &amp; Objective</vt:lpstr>
      <vt:lpstr>Game Rules &amp; Controls</vt:lpstr>
      <vt:lpstr>Game in Action</vt:lpstr>
      <vt:lpstr>Tools &amp; Technology</vt:lpstr>
      <vt:lpstr>Program Design</vt:lpstr>
      <vt:lpstr>Key COAL Concepts Used</vt:lpstr>
      <vt:lpstr>Game Flow</vt:lpstr>
      <vt:lpstr>Challenges &amp; Conclusion</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Card Matching Game - COAL Project</dc:title>
  <dc:subject>PptxGenJS Presentation</dc:subject>
  <dc:creator>PptxGenJS</dc:creator>
  <cp:lastModifiedBy>ESHOP</cp:lastModifiedBy>
  <cp:revision>7</cp:revision>
  <dcterms:created xsi:type="dcterms:W3CDTF">2026-10-24T04:01:35Z</dcterms:created>
  <dcterms:modified xsi:type="dcterms:W3CDTF">2026-10-24T12:13:49Z</dcterms:modified>
</cp:coreProperties>
</file>